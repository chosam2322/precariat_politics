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267"/>
    <p:restoredTop sz="94705"/>
  </p:normalViewPr>
  <p:slideViewPr>
    <p:cSldViewPr snapToGrid="0">
      <p:cViewPr varScale="1">
        <p:scale>
          <a:sx n="153" d="100"/>
          <a:sy n="153" d="100"/>
        </p:scale>
        <p:origin x="1976"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6642" y="97104"/>
            <a:ext cx="4134357" cy="3331896"/>
          </a:xfrm>
        </p:spPr>
        <p:txBody>
          <a:bodyPr vert="horz" lIns="91440" tIns="45720" rIns="91440" bIns="45720" rtlCol="0" anchor="t">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492488"/>
            <a:ext cx="3349751" cy="1411356"/>
          </a:xfrm>
        </p:spPr>
        <p:txBody>
          <a:bodyPr vert="horz" lIns="91440" tIns="45720" rIns="91440" bIns="45720" rtlCol="0" anchor="b">
            <a:normAutofit/>
          </a:bodyPr>
          <a:lstStyle>
            <a:lvl1pPr marL="0" indent="0">
              <a:buNone/>
              <a:defRPr lang="en-US" sz="1600"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4373880" y="0"/>
            <a:ext cx="781812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56644" y="6338703"/>
            <a:ext cx="2196699" cy="365125"/>
          </a:xfrm>
        </p:spPr>
        <p:txBody>
          <a:bodyPr/>
          <a:lstStyle/>
          <a:p>
            <a:endParaRPr lang="en-US"/>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2383669" y="6338703"/>
            <a:ext cx="1392578" cy="365125"/>
          </a:xfrm>
        </p:spPr>
        <p:txBody>
          <a:bodyPr/>
          <a:lstStyle/>
          <a:p>
            <a:fld id="{710AE426-CBD1-49BA-A1DA-945CCEE2ED80}" type="datetimeFigureOut">
              <a:rPr lang="en-US" smtClean="0"/>
              <a:t>10/6/26</a:t>
            </a:fld>
            <a:endParaRPr lang="en-US"/>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3776247" y="6342301"/>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405440761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1709862"/>
            <a:ext cx="10963656" cy="45137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10/6/26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334575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846390" y="1411358"/>
            <a:ext cx="3888410" cy="2845567"/>
          </a:xfrm>
        </p:spPr>
        <p:txBody>
          <a:bodyPr vert="horz" lIns="91440" tIns="45720" rIns="91440" bIns="45720" rtlCol="0" anchor="b">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46388" y="4403039"/>
            <a:ext cx="3888410" cy="1123122"/>
          </a:xfrm>
        </p:spPr>
        <p:txBody>
          <a:bodyPr vert="horz" lIns="91440" tIns="45720" rIns="91440" bIns="45720" rtlCol="0">
            <a:normAutofit/>
          </a:bodyPr>
          <a:lstStyle>
            <a:lvl1pPr marL="0" indent="0">
              <a:buNone/>
              <a:defRPr lang="en-US" sz="1600" dirty="0"/>
            </a:lvl1pPr>
          </a:lstStyle>
          <a:p>
            <a:pPr lvl="0"/>
            <a:r>
              <a:rPr lang="en-US"/>
              <a:t>Click to edit Master subtitle style</a:t>
            </a:r>
            <a:endParaRPr lang="en-US" dirty="0"/>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1" y="0"/>
            <a:ext cx="7424272"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846388" y="6343955"/>
            <a:ext cx="2100482"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767853" y="6343955"/>
            <a:ext cx="1475163" cy="365125"/>
          </a:xfrm>
        </p:spPr>
        <p:txBody>
          <a:bodyPr/>
          <a:lstStyle>
            <a:lvl1pPr>
              <a:defRPr>
                <a:solidFill>
                  <a:schemeClr val="tx1"/>
                </a:solidFill>
                <a:effectLst/>
              </a:defRPr>
            </a:lvl1pPr>
          </a:lstStyle>
          <a:p>
            <a:fld id="{710AE426-CBD1-49BA-A1DA-945CCEE2ED80}" type="datetimeFigureOut">
              <a:rPr lang="en-US" smtClean="0"/>
              <a:t>10/6/26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29606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69294491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7" y="1143000"/>
            <a:ext cx="8683753" cy="3095149"/>
          </a:xfrm>
        </p:spPr>
        <p:txBody>
          <a:bodyPr vert="horz" lIns="91440" tIns="45720" rIns="91440" bIns="45720" rtlCol="0" anchor="b">
            <a:normAutofit/>
          </a:bodyPr>
          <a:lstStyle>
            <a:lvl1pPr>
              <a:defRPr lang="en-US" sz="6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7" y="4498848"/>
            <a:ext cx="6881457" cy="1014984"/>
          </a:xfrm>
        </p:spPr>
        <p:txBody>
          <a:bodyPr vert="horz" lIns="91440" tIns="45720" rIns="91440" bIns="45720" rtlCol="0">
            <a:normAutofit/>
          </a:bodyPr>
          <a:lstStyle>
            <a:lvl1pPr marL="0" indent="0">
              <a:buNone/>
              <a:defRPr lang="en-US" sz="18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6343955"/>
            <a:ext cx="2805405"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6343955"/>
            <a:ext cx="2875064" cy="365125"/>
          </a:xfrm>
        </p:spPr>
        <p:txBody>
          <a:bodyPr/>
          <a:lstStyle/>
          <a:p>
            <a:fld id="{710AE426-CBD1-49BA-A1DA-945CCEE2ED80}" type="datetimeFigureOut">
              <a:rPr lang="en-US" smtClean="0"/>
              <a:t>10/6/26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98899127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AC53C90-8C33-0C80-CBD4-B3BEE604E231}"/>
              </a:ext>
            </a:extLst>
          </p:cNvPr>
          <p:cNvSpPr>
            <a:spLocks noGrp="1"/>
          </p:cNvSpPr>
          <p:nvPr>
            <p:ph type="title"/>
          </p:nvPr>
        </p:nvSpPr>
        <p:spPr>
          <a:xfrm>
            <a:off x="111758" y="1869103"/>
            <a:ext cx="9337042" cy="4906929"/>
          </a:xfrm>
        </p:spPr>
        <p:txBody>
          <a:bodyPr>
            <a:normAutofit/>
          </a:bodyPr>
          <a:lstStyle>
            <a:lvl1pPr>
              <a:defRPr sz="7400"/>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lstStyle/>
          <a:p>
            <a:fld id="{710AE426-CBD1-49BA-A1DA-945CCEE2ED80}" type="datetimeFigureOut">
              <a:rPr lang="en-US" smtClean="0"/>
              <a:t>10/6/26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67701810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5111" y="105196"/>
            <a:ext cx="9023561" cy="2113392"/>
          </a:xfrm>
        </p:spPr>
        <p:txBody>
          <a:bodyPr anchor="t">
            <a:normAutofit/>
          </a:bodyPr>
          <a:lstStyle>
            <a:lvl1pPr>
              <a:defRPr sz="720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484255"/>
            <a:ext cx="8467558" cy="3539514"/>
          </a:xfrm>
        </p:spPr>
        <p:txBody>
          <a:bodyPr>
            <a:normAutofit/>
          </a:bodyPr>
          <a:lstStyle>
            <a:lvl1pPr marL="457200" indent="-457200">
              <a:buFont typeface="+mj-lt"/>
              <a:buAutoNum type="arabicPeriod"/>
              <a:defRPr sz="1800"/>
            </a:lvl1pPr>
            <a:lvl2pPr marL="685800" indent="-457200">
              <a:buFont typeface="+mj-lt"/>
              <a:buAutoNum type="arabicPeriod"/>
              <a:defRPr sz="16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710AE426-CBD1-49BA-A1DA-945CCEE2ED80}" type="datetimeFigureOut">
              <a:rPr lang="en-US" smtClean="0"/>
              <a:t>10/6/26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42510038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4641011" y="73742"/>
            <a:ext cx="6863496" cy="2220726"/>
          </a:xfrm>
        </p:spPr>
        <p:txBody>
          <a:bodyPr anchor="t">
            <a:normAutofit/>
          </a:bodyPr>
          <a:lstStyle>
            <a:lvl1pPr>
              <a:defRPr sz="7200"/>
            </a:lvl1pPr>
          </a:lstStyle>
          <a:p>
            <a:r>
              <a:rPr lang="en-US" dirty="0"/>
              <a:t>Agenda</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1" y="0"/>
            <a:ext cx="4565591" cy="6858000"/>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588000" y="2726267"/>
            <a:ext cx="5916507" cy="3436789"/>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588000" y="6343955"/>
            <a:ext cx="2985400" cy="365125"/>
          </a:xfrm>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p:spPr>
        <p:txBody>
          <a:bodyPr/>
          <a:lstStyle/>
          <a:p>
            <a:fld id="{710AE426-CBD1-49BA-A1DA-945CCEE2ED80}" type="datetimeFigureOut">
              <a:rPr lang="en-US" smtClean="0"/>
              <a:t>10/6/26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0817421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388700"/>
            <a:ext cx="3923455" cy="4083580"/>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56011" y="1389134"/>
            <a:ext cx="6045390" cy="40835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10/6/26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8567478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707549"/>
            <a:ext cx="3349754" cy="2721451"/>
          </a:xfrm>
        </p:spPr>
        <p:txBody>
          <a:bodyPr vert="horz" lIns="91440" tIns="45720" rIns="91440" bIns="45720" rtlCol="0" anchor="t">
            <a:normAutofit/>
          </a:bodyPr>
          <a:lstStyle>
            <a:lvl1pPr>
              <a:defRPr lang="en-US" sz="2500"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48200" y="708184"/>
            <a:ext cx="6928103" cy="55148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10/6/26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42044731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56011" y="612648"/>
            <a:ext cx="6426389" cy="114300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57368" y="1978488"/>
            <a:ext cx="6418935" cy="42855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56010" y="6343955"/>
            <a:ext cx="3364903" cy="365125"/>
          </a:xfrm>
        </p:spPr>
        <p:txBody>
          <a:bodyPr/>
          <a:lstStyle/>
          <a:p>
            <a:endParaRPr lang="en-US"/>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p:spPr>
        <p:txBody>
          <a:bodyPr/>
          <a:lstStyle/>
          <a:p>
            <a:fld id="{710AE426-CBD1-49BA-A1DA-945CCEE2ED80}" type="datetimeFigureOut">
              <a:rPr lang="en-US" smtClean="0"/>
              <a:t>10/6/26</a:t>
            </a:fld>
            <a:endParaRPr lang="en-US"/>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663157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32168" y="474177"/>
            <a:ext cx="6950232"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32168" y="1627632"/>
            <a:ext cx="6950232" cy="46862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632168" y="6343955"/>
            <a:ext cx="3422906" cy="365125"/>
          </a:xfrm>
        </p:spPr>
        <p:txBody>
          <a:bodyPr/>
          <a:lstStyle/>
          <a:p>
            <a:endParaRPr lang="en-US"/>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p:spPr>
        <p:txBody>
          <a:bodyPr/>
          <a:lstStyle/>
          <a:p>
            <a:fld id="{710AE426-CBD1-49BA-A1DA-945CCEE2ED80}" type="datetimeFigureOut">
              <a:rPr lang="en-US" smtClean="0"/>
              <a:t>10/6/26</a:t>
            </a:fld>
            <a:endParaRPr lang="en-US"/>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40579535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475488"/>
            <a:ext cx="6858000"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627632"/>
            <a:ext cx="6858000" cy="4535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p:spPr>
        <p:txBody>
          <a:bodyPr/>
          <a:lstStyle/>
          <a:p>
            <a:fld id="{710AE426-CBD1-49BA-A1DA-945CCEE2ED80}" type="datetimeFigureOut">
              <a:rPr lang="en-US" smtClean="0"/>
              <a:t>10/6/26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p:spPr>
        <p:txBody>
          <a:bodyPr/>
          <a:lstStyle/>
          <a:p>
            <a:fld id="{0B3A8078-5A32-4B09-ABA5-7ABEFD22E08A}"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8697260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9" y="420623"/>
            <a:ext cx="4494189" cy="132588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1975104"/>
            <a:ext cx="4494063" cy="4156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776" y="6343955"/>
            <a:ext cx="2098620" cy="365125"/>
          </a:xfrm>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213651" y="6343955"/>
            <a:ext cx="1573037" cy="365125"/>
          </a:xfrm>
        </p:spPr>
        <p:txBody>
          <a:bodyPr/>
          <a:lstStyle/>
          <a:p>
            <a:fld id="{710AE426-CBD1-49BA-A1DA-945CCEE2ED80}" type="datetimeFigureOut">
              <a:rPr lang="en-US" smtClean="0"/>
              <a:t>10/6/26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796658" y="6343955"/>
            <a:ext cx="429207" cy="365125"/>
          </a:xfrm>
        </p:spPr>
        <p:txBody>
          <a:bodyPr/>
          <a:lstStyle>
            <a:lvl1pPr>
              <a:defRPr>
                <a:solidFill>
                  <a:schemeClr val="tx1"/>
                </a:solidFill>
                <a:effectLst/>
              </a:defRPr>
            </a:lvl1pPr>
          </a:lstStyle>
          <a:p>
            <a:fld id="{0B3A8078-5A32-4B09-ABA5-7ABEFD22E08A}"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58928" y="0"/>
            <a:ext cx="6533072"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4871521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429768"/>
            <a:ext cx="3657600" cy="1667226"/>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823" y="2315569"/>
            <a:ext cx="3657600" cy="3814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615697" y="6343955"/>
            <a:ext cx="1637337" cy="365125"/>
          </a:xfrm>
        </p:spPr>
        <p:txBody>
          <a:bodyPr/>
          <a:lstStyle/>
          <a:p>
            <a:endParaRPr lang="en-US"/>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2703447" y="6343955"/>
            <a:ext cx="949766" cy="365125"/>
          </a:xfrm>
        </p:spPr>
        <p:txBody>
          <a:bodyPr/>
          <a:lstStyle/>
          <a:p>
            <a:fld id="{710AE426-CBD1-49BA-A1DA-945CCEE2ED80}" type="datetimeFigureOut">
              <a:rPr lang="en-US" smtClean="0"/>
              <a:t>10/6/26</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3653213" y="6343955"/>
            <a:ext cx="429207" cy="365125"/>
          </a:xfrm>
        </p:spPr>
        <p:txBody>
          <a:bodyPr/>
          <a:lstStyle/>
          <a:p>
            <a:fld id="{0B3A8078-5A32-4B09-ABA5-7ABEFD22E08A}"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895088" y="0"/>
            <a:ext cx="7296912"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9411082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1" y="929554"/>
            <a:ext cx="2699254" cy="1858941"/>
          </a:xfrm>
        </p:spPr>
        <p:txBody>
          <a:bodyPr vert="horz" lIns="91440" tIns="45720" rIns="91440" bIns="45720" rtlCol="0" anchor="b">
            <a:normAutofit/>
          </a:bodyPr>
          <a:lstStyle>
            <a:lvl1pPr>
              <a:defRPr lang="en-US" sz="2500"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3011335"/>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88061" y="6343955"/>
            <a:ext cx="1404460"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p:spPr>
        <p:txBody>
          <a:bodyPr/>
          <a:lstStyle>
            <a:lvl1pPr>
              <a:defRPr>
                <a:solidFill>
                  <a:schemeClr val="tx1"/>
                </a:solidFill>
                <a:effectLst/>
              </a:defRPr>
            </a:lvl1pPr>
          </a:lstStyle>
          <a:p>
            <a:fld id="{710AE426-CBD1-49BA-A1DA-945CCEE2ED80}" type="datetimeFigureOut">
              <a:rPr lang="en-US" smtClean="0"/>
              <a:t>10/6/26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6546115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162318"/>
            <a:ext cx="3044954" cy="1892808"/>
          </a:xfrm>
        </p:spPr>
        <p:txBody>
          <a:bodyPr vert="horz" lIns="91440" tIns="45720" rIns="91440" bIns="45720" rtlCol="0" anchor="t">
            <a:normAutofit/>
          </a:bodyPr>
          <a:lstStyle>
            <a:lvl1pPr>
              <a:defRPr lang="en-US" sz="2500"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77827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4162318"/>
            <a:ext cx="7460029" cy="209152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10AE426-CBD1-49BA-A1DA-945CCEE2ED80}" type="datetimeFigureOut">
              <a:rPr lang="en-US" smtClean="0"/>
              <a:t>10/6/26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9980735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9341"/>
            <a:ext cx="10969753"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12398"/>
            <a:ext cx="4637269" cy="42076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p:spPr>
        <p:txBody>
          <a:bodyPr/>
          <a:lstStyle/>
          <a:p>
            <a:endParaRPr lang="en-US"/>
          </a:p>
        </p:txBody>
      </p:sp>
      <p:sp>
        <p:nvSpPr>
          <p:cNvPr id="5" name="Picture Placeholder 4">
            <a:extLst>
              <a:ext uri="{FF2B5EF4-FFF2-40B4-BE49-F238E27FC236}">
                <a16:creationId xmlns:a16="http://schemas.microsoft.com/office/drawing/2014/main" id="{EC8422D5-19BC-1CA0-FD0B-D86260BAA322}"/>
              </a:ext>
            </a:extLst>
          </p:cNvPr>
          <p:cNvSpPr>
            <a:spLocks noGrp="1"/>
          </p:cNvSpPr>
          <p:nvPr>
            <p:ph type="pic" sz="quarter" idx="18" hasCustomPrompt="1"/>
          </p:nvPr>
        </p:nvSpPr>
        <p:spPr>
          <a:xfrm>
            <a:off x="5737221" y="1912938"/>
            <a:ext cx="5741992" cy="4224337"/>
          </a:xfrm>
          <a:blipFill>
            <a:blip r:embed="rId2">
              <a:alphaModFix amt="60000"/>
            </a:blip>
            <a:stretch>
              <a:fillRect/>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p:spPr>
        <p:txBody>
          <a:bodyPr/>
          <a:lstStyle/>
          <a:p>
            <a:fld id="{710AE426-CBD1-49BA-A1DA-945CCEE2ED80}" type="datetimeFigureOut">
              <a:rPr lang="en-US" smtClean="0"/>
              <a:t>10/6/26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3804238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06802"/>
            <a:ext cx="4672584" cy="126948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20468" y="2173850"/>
            <a:ext cx="4564763" cy="3963682"/>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05563" y="732155"/>
            <a:ext cx="5676838" cy="54053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10AE426-CBD1-49BA-A1DA-945CCEE2ED80}" type="datetimeFigureOut">
              <a:rPr lang="en-US" smtClean="0"/>
              <a:t>10/6/26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17691119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219199" y="4893733"/>
            <a:ext cx="9762068" cy="1059806"/>
          </a:xfrm>
        </p:spPr>
        <p:txBody>
          <a:bodyPr anchor="ctr">
            <a:normAutofit/>
          </a:bodyPr>
          <a:lstStyle>
            <a:lvl1pPr algn="ctr">
              <a:lnSpc>
                <a:spcPct val="110000"/>
              </a:lnSpc>
              <a:defRPr sz="2600" b="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484094"/>
            <a:ext cx="10543032" cy="4536141"/>
          </a:xfrm>
        </p:spPr>
        <p:txBody>
          <a:bodyPr anchor="b">
            <a:normAutofit/>
          </a:bodyPr>
          <a:lstStyle>
            <a:lvl1pPr marL="0" indent="0" algn="ctr">
              <a:lnSpc>
                <a:spcPct val="90000"/>
              </a:lnSpc>
              <a:buNone/>
              <a:defRPr sz="27000" b="1">
                <a:solidFill>
                  <a:schemeClr val="tx1"/>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710AE426-CBD1-49BA-A1DA-945CCEE2ED80}" type="datetimeFigureOut">
              <a:rPr lang="en-US" smtClean="0"/>
              <a:t>10/6/26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0B3A8078-5A32-4B09-ABA5-7ABEFD22E08A}" type="slidenum">
              <a:rPr lang="en-US" smtClean="0"/>
              <a:t>‹#›</a:t>
            </a:fld>
            <a:endParaRPr lang="en-US"/>
          </a:p>
        </p:txBody>
      </p:sp>
    </p:spTree>
    <p:extLst>
      <p:ext uri="{BB962C8B-B14F-4D97-AF65-F5344CB8AC3E}">
        <p14:creationId xmlns:p14="http://schemas.microsoft.com/office/powerpoint/2010/main" val="2723753909"/>
      </p:ext>
    </p:extLst>
  </p:cSld>
  <p:clrMapOvr>
    <a:overrideClrMapping bg1="dk1" tx1="lt1" bg2="dk2" tx2="lt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9264" y="42335"/>
            <a:ext cx="11517039" cy="6172200"/>
          </a:xfrm>
        </p:spPr>
        <p:txBody>
          <a:bodyPr anchor="t">
            <a:normAutofit/>
          </a:bodyPr>
          <a:lstStyle>
            <a:lvl1pPr marL="0" indent="0">
              <a:lnSpc>
                <a:spcPct val="90000"/>
              </a:lnSpc>
              <a:buNone/>
              <a:defRPr sz="8000" b="1"/>
            </a:lvl1pPr>
            <a:lvl2pPr marL="228600" indent="0">
              <a:lnSpc>
                <a:spcPct val="90000"/>
              </a:lnSpc>
              <a:buNone/>
              <a:defRPr sz="7200" b="1"/>
            </a:lvl2pPr>
            <a:lvl3pPr marL="457200" indent="0">
              <a:lnSpc>
                <a:spcPct val="90000"/>
              </a:lnSpc>
              <a:buNone/>
              <a:defRPr sz="6600" b="1"/>
            </a:lvl3pPr>
            <a:lvl4pPr marL="685800" indent="0">
              <a:lnSpc>
                <a:spcPct val="90000"/>
              </a:lnSpc>
              <a:buNone/>
              <a:defRPr sz="6000" b="1"/>
            </a:lvl4pPr>
            <a:lvl5pPr marL="914400" indent="0">
              <a:lnSpc>
                <a:spcPct val="90000"/>
              </a:lnSpc>
              <a:buNone/>
              <a:defRPr sz="54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710AE426-CBD1-49BA-A1DA-945CCEE2ED80}" type="datetimeFigureOut">
              <a:rPr lang="en-US" smtClean="0"/>
              <a:t>10/6/26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59655180"/>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499616" y="5029200"/>
            <a:ext cx="9198864" cy="640080"/>
          </a:xfrm>
        </p:spPr>
        <p:txBody>
          <a:bodyPr anchor="ctr">
            <a:normAutofit/>
          </a:bodyPr>
          <a:lstStyle>
            <a:lvl1pPr>
              <a:lnSpc>
                <a:spcPct val="120000"/>
              </a:lnSpc>
              <a:defRPr sz="2000" spc="0">
                <a:solidFill>
                  <a:schemeClr val="accent1">
                    <a:lumMod val="75000"/>
                  </a:schemeClr>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188720"/>
            <a:ext cx="9198864" cy="3332480"/>
          </a:xfrm>
        </p:spPr>
        <p:txBody>
          <a:bodyPr anchor="ctr">
            <a:normAutofit/>
          </a:bodyPr>
          <a:lstStyle>
            <a:lvl1pPr marL="164592" indent="-164592">
              <a:lnSpc>
                <a:spcPct val="100000"/>
              </a:lnSpc>
              <a:spcBef>
                <a:spcPts val="0"/>
              </a:spcBef>
              <a:buNone/>
              <a:defRPr sz="4800">
                <a:latin typeface="+mj-lt"/>
              </a:defRPr>
            </a:lvl1pPr>
          </a:lstStyle>
          <a:p>
            <a:pPr lvl="0"/>
            <a:r>
              <a:rPr lang="en-US" dirty="0"/>
              <a:t>Click to edit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710AE426-CBD1-49BA-A1DA-945CCEE2ED80}" type="datetimeFigureOut">
              <a:rPr lang="en-US" smtClean="0"/>
              <a:t>10/6/26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4284796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12064"/>
            <a:ext cx="10741152" cy="969264"/>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825625"/>
            <a:ext cx="507492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278563" y="1825625"/>
            <a:ext cx="5075237"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10AE426-CBD1-49BA-A1DA-945CCEE2ED80}" type="datetimeFigureOut">
              <a:rPr lang="en-US" smtClean="0"/>
              <a:t>10/6/26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10297341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12064"/>
            <a:ext cx="10745788" cy="969264"/>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07492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387600"/>
            <a:ext cx="5075238" cy="3786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0468" y="1685735"/>
            <a:ext cx="507492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279832" y="2387600"/>
            <a:ext cx="5075556" cy="3786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710AE426-CBD1-49BA-A1DA-945CCEE2ED80}" type="datetimeFigureOut">
              <a:rPr lang="en-US" smtClean="0"/>
              <a:t>10/6/26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64214797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12648" y="512064"/>
            <a:ext cx="10963656" cy="969264"/>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710AE426-CBD1-49BA-A1DA-945CCEE2ED80}" type="datetimeFigureOut">
              <a:rPr lang="en-US" smtClean="0"/>
              <a:t>10/6/26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7682044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710AE426-CBD1-49BA-A1DA-945CCEE2ED80}" type="datetimeFigureOut">
              <a:rPr lang="en-US" smtClean="0"/>
              <a:t>10/6/26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20522573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4299" y="89808"/>
            <a:ext cx="11462003" cy="2514600"/>
          </a:xfrm>
        </p:spPr>
        <p:txBody>
          <a:bodyPr anchor="t">
            <a:normAutofit/>
          </a:bodyPr>
          <a:lstStyle>
            <a:lvl1pPr>
              <a:defRPr sz="7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118757"/>
            <a:ext cx="10963528" cy="2620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10/6/26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959248582"/>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627318"/>
            <a:ext cx="8430767" cy="1842020"/>
          </a:xfrm>
        </p:spPr>
        <p:txBody>
          <a:bodyPr anchor="b">
            <a:noAutofit/>
          </a:bodyPr>
          <a:lstStyle>
            <a:lvl1pPr>
              <a:defRPr sz="72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5" y="3622674"/>
            <a:ext cx="8430639" cy="1608008"/>
          </a:xfrm>
        </p:spPr>
        <p:txBody>
          <a:bodyPr>
            <a:normAutofit/>
          </a:bodyPr>
          <a:lstStyle>
            <a:lvl1pPr marL="0" indent="0">
              <a:buNone/>
              <a:defRPr sz="1800"/>
            </a:lvl1pPr>
            <a:lvl2pPr marL="228600" indent="0">
              <a:buNone/>
              <a:defRPr sz="1600"/>
            </a:lvl2pPr>
            <a:lvl3pPr marL="457200" indent="0">
              <a:buNone/>
              <a:defRPr sz="1400"/>
            </a:lvl3pPr>
            <a:lvl4pPr marL="685800" indent="0">
              <a:buNone/>
              <a:defRPr sz="1400"/>
            </a:lvl4pPr>
            <a:lvl5pPr marL="914400" inden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10/6/26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752757158"/>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14649"/>
            <a:ext cx="10963655" cy="97237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09862"/>
            <a:ext cx="10963656" cy="451375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7" y="6343955"/>
            <a:ext cx="2805405" cy="365125"/>
          </a:xfrm>
          <a:prstGeom prst="rect">
            <a:avLst/>
          </a:prstGeom>
        </p:spPr>
        <p:txBody>
          <a:bodyPr vert="horz" lIns="91440" tIns="45720" rIns="91440" bIns="45720" rtlCol="0" anchor="ctr"/>
          <a:lstStyle>
            <a:lvl1pPr algn="l">
              <a:defRPr sz="800">
                <a:solidFill>
                  <a:schemeClr val="tx1"/>
                </a:solidFill>
              </a:defRPr>
            </a:lvl1pPr>
          </a:lstStyle>
          <a:p>
            <a:endParaRPr lang="en-US"/>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lstStyle>
            <a:lvl1pPr algn="r">
              <a:defRPr sz="800">
                <a:solidFill>
                  <a:schemeClr val="tx1"/>
                </a:solidFill>
              </a:defRPr>
            </a:lvl1pPr>
          </a:lstStyle>
          <a:p>
            <a:fld id="{710AE426-CBD1-49BA-A1DA-945CCEE2ED80}" type="datetimeFigureOut">
              <a:rPr lang="en-US" smtClean="0"/>
              <a:t>10/6/26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lstStyle>
            <a:lvl1pPr algn="r">
              <a:defRPr sz="800">
                <a:solidFill>
                  <a:schemeClr val="tx1"/>
                </a:solidFill>
              </a:defRPr>
            </a:lvl1pPr>
          </a:lstStyle>
          <a:p>
            <a:fld id="{0B3A8078-5A32-4B09-ABA5-7ABEFD22E08A}" type="slidenum">
              <a:rPr lang="en-US" smtClean="0"/>
              <a:t>‹#›</a:t>
            </a:fld>
            <a:endParaRPr lang="en-US"/>
          </a:p>
        </p:txBody>
      </p:sp>
    </p:spTree>
    <p:extLst>
      <p:ext uri="{BB962C8B-B14F-4D97-AF65-F5344CB8AC3E}">
        <p14:creationId xmlns:p14="http://schemas.microsoft.com/office/powerpoint/2010/main" val="83530118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67" r:id="rId4"/>
    <p:sldLayoutId id="2147483670" r:id="rId5"/>
    <p:sldLayoutId id="2147483671" r:id="rId6"/>
    <p:sldLayoutId id="2147483672" r:id="rId7"/>
    <p:sldLayoutId id="2147483675" r:id="rId8"/>
    <p:sldLayoutId id="2147483677" r:id="rId9"/>
    <p:sldLayoutId id="2147483678" r:id="rId10"/>
    <p:sldLayoutId id="2147483680" r:id="rId11"/>
    <p:sldLayoutId id="2147483681" r:id="rId12"/>
    <p:sldLayoutId id="2147483683" r:id="rId13"/>
    <p:sldLayoutId id="2147483685" r:id="rId14"/>
    <p:sldLayoutId id="2147483686" r:id="rId15"/>
    <p:sldLayoutId id="2147483689" r:id="rId16"/>
    <p:sldLayoutId id="2147483693" r:id="rId17"/>
    <p:sldLayoutId id="2147483695" r:id="rId18"/>
    <p:sldLayoutId id="2147483697" r:id="rId19"/>
    <p:sldLayoutId id="2147483701" r:id="rId20"/>
    <p:sldLayoutId id="2147483706" r:id="rId21"/>
    <p:sldLayoutId id="2147483709" r:id="rId22"/>
    <p:sldLayoutId id="2147483710" r:id="rId23"/>
    <p:sldLayoutId id="2147483711" r:id="rId24"/>
    <p:sldLayoutId id="2147483712" r:id="rId25"/>
    <p:sldLayoutId id="2147483715" r:id="rId26"/>
    <p:sldLayoutId id="2147483716" r:id="rId27"/>
  </p:sldLayoutIdLst>
  <p:txStyles>
    <p:titleStyle>
      <a:lvl1pPr algn="l" defTabSz="914400" rtl="0" eaLnBrk="1" latinLnBrk="0" hangingPunct="1">
        <a:lnSpc>
          <a:spcPct val="95000"/>
        </a:lnSpc>
        <a:spcBef>
          <a:spcPct val="0"/>
        </a:spcBef>
        <a:buNone/>
        <a:defRPr sz="2800" b="1" kern="1200" spc="-3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7" orient="horz" pos="2160">
          <p15:clr>
            <a:srgbClr val="F26B43"/>
          </p15:clr>
        </p15:guide>
        <p15:guide id="8" pos="3840">
          <p15:clr>
            <a:srgbClr val="F26B43"/>
          </p15:clr>
        </p15:guide>
        <p15:guide id="9" pos="7296">
          <p15:clr>
            <a:srgbClr val="F26B43"/>
          </p15:clr>
        </p15:guide>
        <p15:guide id="10" pos="38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4A0D7-315D-CF05-698B-26BAFD4FE710}"/>
              </a:ext>
            </a:extLst>
          </p:cNvPr>
          <p:cNvSpPr>
            <a:spLocks noGrp="1"/>
          </p:cNvSpPr>
          <p:nvPr>
            <p:ph type="ctrTitle"/>
          </p:nvPr>
        </p:nvSpPr>
        <p:spPr>
          <a:xfrm>
            <a:off x="56642" y="97104"/>
            <a:ext cx="4441786" cy="3331896"/>
          </a:xfrm>
        </p:spPr>
        <p:txBody>
          <a:bodyPr>
            <a:normAutofit/>
          </a:bodyPr>
          <a:lstStyle/>
          <a:p>
            <a:r>
              <a:rPr lang="en-US" dirty="0">
                <a:latin typeface="Garamond" panose="02020404030301010803" pitchFamily="18" charset="0"/>
              </a:rPr>
              <a:t>Job Quality, Political Attitudes, and New Evidence on Old Questions</a:t>
            </a:r>
          </a:p>
        </p:txBody>
      </p:sp>
      <p:sp>
        <p:nvSpPr>
          <p:cNvPr id="3" name="Subtitle 2">
            <a:extLst>
              <a:ext uri="{FF2B5EF4-FFF2-40B4-BE49-F238E27FC236}">
                <a16:creationId xmlns:a16="http://schemas.microsoft.com/office/drawing/2014/main" id="{4130B680-AECC-C3B2-21D8-794B4CE18507}"/>
              </a:ext>
            </a:extLst>
          </p:cNvPr>
          <p:cNvSpPr>
            <a:spLocks noGrp="1"/>
          </p:cNvSpPr>
          <p:nvPr>
            <p:ph type="subTitle" idx="1"/>
          </p:nvPr>
        </p:nvSpPr>
        <p:spPr/>
        <p:txBody>
          <a:bodyPr/>
          <a:lstStyle/>
          <a:p>
            <a:r>
              <a:rPr lang="en-US" dirty="0">
                <a:latin typeface="Garamond" panose="02020404030301010803" pitchFamily="18" charset="0"/>
              </a:rPr>
              <a:t>Christian Hosam</a:t>
            </a:r>
          </a:p>
          <a:p>
            <a:r>
              <a:rPr lang="en-US" dirty="0">
                <a:latin typeface="Garamond" panose="02020404030301010803" pitchFamily="18" charset="0"/>
              </a:rPr>
              <a:t>Assistant Professor</a:t>
            </a:r>
          </a:p>
          <a:p>
            <a:r>
              <a:rPr lang="en-US" dirty="0">
                <a:latin typeface="Garamond" panose="02020404030301010803" pitchFamily="18" charset="0"/>
              </a:rPr>
              <a:t>Wellesley College</a:t>
            </a:r>
          </a:p>
        </p:txBody>
      </p:sp>
      <p:pic>
        <p:nvPicPr>
          <p:cNvPr id="6" name="Picture Placeholder 5" descr="Man checking his phone">
            <a:extLst>
              <a:ext uri="{FF2B5EF4-FFF2-40B4-BE49-F238E27FC236}">
                <a16:creationId xmlns:a16="http://schemas.microsoft.com/office/drawing/2014/main" id="{1F22FD15-D308-957C-E215-498ADC486349}"/>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11998" r="11998"/>
          <a:stretch>
            <a:fillRect/>
          </a:stretch>
        </p:blipFill>
        <p:spPr/>
      </p:pic>
    </p:spTree>
    <p:extLst>
      <p:ext uri="{BB962C8B-B14F-4D97-AF65-F5344CB8AC3E}">
        <p14:creationId xmlns:p14="http://schemas.microsoft.com/office/powerpoint/2010/main" val="22446522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16A48-8C29-F67A-AC14-63505262B17E}"/>
              </a:ext>
            </a:extLst>
          </p:cNvPr>
          <p:cNvSpPr>
            <a:spLocks noGrp="1"/>
          </p:cNvSpPr>
          <p:nvPr>
            <p:ph type="title"/>
          </p:nvPr>
        </p:nvSpPr>
        <p:spPr/>
        <p:txBody>
          <a:bodyPr/>
          <a:lstStyle/>
          <a:p>
            <a:r>
              <a:rPr lang="en-US" dirty="0"/>
              <a:t>What is a Good Job? And Why Does it Matter for Political Attitudes?</a:t>
            </a:r>
          </a:p>
        </p:txBody>
      </p:sp>
      <p:pic>
        <p:nvPicPr>
          <p:cNvPr id="5" name="Content Placeholder 4">
            <a:extLst>
              <a:ext uri="{FF2B5EF4-FFF2-40B4-BE49-F238E27FC236}">
                <a16:creationId xmlns:a16="http://schemas.microsoft.com/office/drawing/2014/main" id="{23B69A02-34BC-9583-7123-5B1826BB374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09149" y="1573103"/>
            <a:ext cx="7804182" cy="4513262"/>
          </a:xfrm>
          <a:prstGeom prst="rect">
            <a:avLst/>
          </a:prstGeom>
        </p:spPr>
      </p:pic>
    </p:spTree>
    <p:extLst>
      <p:ext uri="{BB962C8B-B14F-4D97-AF65-F5344CB8AC3E}">
        <p14:creationId xmlns:p14="http://schemas.microsoft.com/office/powerpoint/2010/main" val="13544977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8F7BF7-BE71-249C-AE19-DDEB4543A1D2}"/>
              </a:ext>
            </a:extLst>
          </p:cNvPr>
          <p:cNvSpPr>
            <a:spLocks noGrp="1"/>
          </p:cNvSpPr>
          <p:nvPr>
            <p:ph idx="1"/>
          </p:nvPr>
        </p:nvSpPr>
        <p:spPr>
          <a:xfrm>
            <a:off x="614172" y="826993"/>
            <a:ext cx="10963656" cy="4513752"/>
          </a:xfrm>
        </p:spPr>
        <p:txBody>
          <a:bodyPr>
            <a:noAutofit/>
          </a:bodyPr>
          <a:lstStyle/>
          <a:p>
            <a:r>
              <a:rPr lang="en-US" sz="1800" dirty="0">
                <a:latin typeface="Garamond" panose="02020404030301010803" pitchFamily="18" charset="0"/>
              </a:rPr>
              <a:t>Existing literature on the link between employment and political behavior tends to focus principally on exploiting the variation between the two parties as a pathway to understand how having a job shapes vote share and/or partisan attachment (Grafstein 2005; Wright 2012)</a:t>
            </a:r>
          </a:p>
          <a:p>
            <a:r>
              <a:rPr lang="en-US" sz="1800" dirty="0">
                <a:latin typeface="Garamond" panose="02020404030301010803" pitchFamily="18" charset="0"/>
              </a:rPr>
              <a:t>Recent work in Economics has looked at different ways of disaggregating parts of a job to understand its benefits for workers but most of that work is focused on understanding how to integrate objective factors that might accentuate the importance of income with subjective factors that help give workers a sense of meaning (Nikolova and Cnossen 2020; Mira 2021). Because of collinearity concerns, this becomes less tractable for understanding political behavior </a:t>
            </a:r>
          </a:p>
          <a:p>
            <a:r>
              <a:rPr lang="en-US" sz="1800" dirty="0">
                <a:latin typeface="Garamond" panose="02020404030301010803" pitchFamily="18" charset="0"/>
              </a:rPr>
              <a:t>Closer to home, Kathleen Thelen’s assertion that unemployment as a metric of macroeconomic health makes less sense in the context of higher rates of contingent labor identifies a need to more fluidly understand the ways that people’s work shapes their political attitude</a:t>
            </a:r>
          </a:p>
          <a:p>
            <a:r>
              <a:rPr lang="en-US" sz="1800" dirty="0">
                <a:latin typeface="Garamond" panose="02020404030301010803" pitchFamily="18" charset="0"/>
              </a:rPr>
              <a:t>So my idea is that by separating the component parts of a job, we can more holistically understand the ways that different parts of work matter in different ways for different people </a:t>
            </a:r>
          </a:p>
        </p:txBody>
      </p:sp>
    </p:spTree>
    <p:extLst>
      <p:ext uri="{BB962C8B-B14F-4D97-AF65-F5344CB8AC3E}">
        <p14:creationId xmlns:p14="http://schemas.microsoft.com/office/powerpoint/2010/main" val="3348294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B38BF-01E4-632F-B3C8-39BA3F5B228F}"/>
              </a:ext>
            </a:extLst>
          </p:cNvPr>
          <p:cNvSpPr>
            <a:spLocks noGrp="1"/>
          </p:cNvSpPr>
          <p:nvPr>
            <p:ph type="title"/>
          </p:nvPr>
        </p:nvSpPr>
        <p:spPr>
          <a:xfrm>
            <a:off x="612646" y="222840"/>
            <a:ext cx="10963655" cy="972373"/>
          </a:xfrm>
        </p:spPr>
        <p:txBody>
          <a:bodyPr/>
          <a:lstStyle/>
          <a:p>
            <a:r>
              <a:rPr lang="en-US" dirty="0">
                <a:latin typeface="Garamond" panose="02020404030301010803" pitchFamily="18" charset="0"/>
              </a:rPr>
              <a:t>Data - Compensation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F4DDDDB-C15B-3F6F-B657-0E84E83E42D9}"/>
                  </a:ext>
                </a:extLst>
              </p:cNvPr>
              <p:cNvSpPr>
                <a:spLocks noGrp="1"/>
              </p:cNvSpPr>
              <p:nvPr>
                <p:ph idx="1"/>
              </p:nvPr>
            </p:nvSpPr>
            <p:spPr>
              <a:xfrm>
                <a:off x="304798" y="1487022"/>
                <a:ext cx="11579353" cy="5148138"/>
              </a:xfrm>
            </p:spPr>
            <p:txBody>
              <a:bodyPr>
                <a:normAutofit lnSpcReduction="10000"/>
              </a:bodyPr>
              <a:lstStyle/>
              <a:p>
                <a:r>
                  <a:rPr lang="en-US" sz="1900" dirty="0">
                    <a:latin typeface="Garamond" panose="02020404030301010803" pitchFamily="18" charset="0"/>
                  </a:rPr>
                  <a:t>In order to understand something beyond just having a job into something more comprehensive, I link the following three measures from existing observational data:</a:t>
                </a:r>
              </a:p>
              <a:p>
                <a:pPr lvl="1"/>
                <a:r>
                  <a:rPr lang="en-US" sz="1900" dirty="0">
                    <a:latin typeface="Garamond" panose="02020404030301010803" pitchFamily="18" charset="0"/>
                  </a:rPr>
                  <a:t>Compensation: While I do have income (more on that later), I assign compensation based on the Current Population Survey Annual Social and Economic Supplement. I draw here from Enrico Moretti and Gordon Hanson’s measure of defining a good job which for them is the premium relative to what we would expect given the characteristics of the workers employed in it? In the dataset, it is estimated as:  </a:t>
                </a:r>
                <a14:m>
                  <m:oMath xmlns:m="http://schemas.openxmlformats.org/officeDocument/2006/math">
                    <m:func>
                      <m:funcPr>
                        <m:ctrlPr>
                          <a:rPr lang="en-US" sz="1900" i="1" dirty="0"/>
                        </m:ctrlPr>
                      </m:funcPr>
                      <m:fName>
                        <m:r>
                          <a:rPr lang="en-US" sz="1900" i="1" dirty="0"/>
                          <m:t>𝑙𝑜𝑔</m:t>
                        </m:r>
                      </m:fName>
                      <m:e>
                        <m:d>
                          <m:dPr>
                            <m:ctrlPr>
                              <a:rPr lang="en-US" sz="1900" i="1" dirty="0"/>
                            </m:ctrlPr>
                          </m:dPr>
                          <m:e>
                            <m:r>
                              <a:rPr lang="en-US" sz="1900" i="1" dirty="0"/>
                              <m:t>𝐻𝑜𝑢𝑟𝑙𝑦𝑊𝑎𝑔</m:t>
                            </m:r>
                            <m:sSub>
                              <m:sSubPr>
                                <m:ctrlPr>
                                  <a:rPr lang="en-US" sz="1900" i="1" dirty="0"/>
                                </m:ctrlPr>
                              </m:sSubPr>
                              <m:e>
                                <m:r>
                                  <a:rPr lang="en-US" sz="1900" i="1" dirty="0"/>
                                  <m:t>𝑒</m:t>
                                </m:r>
                              </m:e>
                              <m:sub>
                                <m:r>
                                  <a:rPr lang="en-US" sz="1900" i="1" dirty="0"/>
                                  <m:t>𝑖</m:t>
                                </m:r>
                              </m:sub>
                            </m:sSub>
                          </m:e>
                        </m:d>
                      </m:e>
                    </m:func>
                    <m:r>
                      <a:rPr lang="en-US" sz="1900" i="1" dirty="0"/>
                      <m:t>=</m:t>
                    </m:r>
                    <m:r>
                      <a:rPr lang="en-US" sz="1900" i="1" dirty="0"/>
                      <m:t>𝛼</m:t>
                    </m:r>
                    <m:r>
                      <a:rPr lang="en-US" sz="1900" i="1" dirty="0"/>
                      <m:t>+</m:t>
                    </m:r>
                    <m:r>
                      <a:rPr lang="en-US" sz="1900" i="1" dirty="0"/>
                      <m:t>𝐸𝑑𝑢𝑐𝑎𝑡𝑖𝑜</m:t>
                    </m:r>
                    <m:sSub>
                      <m:sSubPr>
                        <m:ctrlPr>
                          <a:rPr lang="en-US" sz="1900" i="1" dirty="0"/>
                        </m:ctrlPr>
                      </m:sSubPr>
                      <m:e>
                        <m:r>
                          <a:rPr lang="en-US" sz="1900" i="1" dirty="0"/>
                          <m:t>𝑛</m:t>
                        </m:r>
                      </m:e>
                      <m:sub>
                        <m:r>
                          <a:rPr lang="en-US" sz="1900" i="1" dirty="0"/>
                          <m:t>𝑖</m:t>
                        </m:r>
                      </m:sub>
                    </m:sSub>
                    <m:r>
                      <a:rPr lang="en-US" sz="1900" i="1" dirty="0"/>
                      <m:t>+</m:t>
                    </m:r>
                    <m:r>
                      <a:rPr lang="en-US" sz="1900" i="1" dirty="0"/>
                      <m:t>𝐸𝑥𝑝𝑒𝑟𝑖𝑒𝑛𝑐</m:t>
                    </m:r>
                    <m:sSub>
                      <m:sSubPr>
                        <m:ctrlPr>
                          <a:rPr lang="en-US" sz="1900" i="1" dirty="0"/>
                        </m:ctrlPr>
                      </m:sSubPr>
                      <m:e>
                        <m:r>
                          <a:rPr lang="en-US" sz="1900" i="1" dirty="0"/>
                          <m:t>𝑒</m:t>
                        </m:r>
                      </m:e>
                      <m:sub>
                        <m:r>
                          <a:rPr lang="en-US" sz="1900" i="1" dirty="0"/>
                          <m:t>𝑖</m:t>
                        </m:r>
                      </m:sub>
                    </m:sSub>
                    <m:r>
                      <a:rPr lang="en-US" sz="1900" i="1" dirty="0"/>
                      <m:t>+</m:t>
                    </m:r>
                    <m:r>
                      <a:rPr lang="en-US" sz="1900" i="1" dirty="0"/>
                      <m:t>𝐸𝑥𝑝𝑒𝑟𝑖𝑒𝑛𝑐</m:t>
                    </m:r>
                    <m:sSubSup>
                      <m:sSubSupPr>
                        <m:ctrlPr>
                          <a:rPr lang="en-US" sz="1900" i="1" dirty="0"/>
                        </m:ctrlPr>
                      </m:sSubSupPr>
                      <m:e>
                        <m:r>
                          <a:rPr lang="en-US" sz="1900" i="1" dirty="0"/>
                          <m:t>𝑒</m:t>
                        </m:r>
                      </m:e>
                      <m:sub>
                        <m:r>
                          <a:rPr lang="en-US" sz="1900" i="1" dirty="0"/>
                          <m:t>𝑖</m:t>
                        </m:r>
                      </m:sub>
                      <m:sup>
                        <m:r>
                          <a:rPr lang="en-US" sz="1900" i="1" dirty="0"/>
                          <m:t>2</m:t>
                        </m:r>
                      </m:sup>
                    </m:sSubSup>
                    <m:r>
                      <a:rPr lang="en-US" sz="1900" i="1" dirty="0"/>
                      <m:t>+</m:t>
                    </m:r>
                    <m:r>
                      <a:rPr lang="en-US" sz="1900" i="1" dirty="0"/>
                      <m:t>𝑆𝑒</m:t>
                    </m:r>
                    <m:sSub>
                      <m:sSubPr>
                        <m:ctrlPr>
                          <a:rPr lang="en-US" sz="1900" i="1" dirty="0"/>
                        </m:ctrlPr>
                      </m:sSubPr>
                      <m:e>
                        <m:r>
                          <a:rPr lang="en-US" sz="1900" i="1" dirty="0"/>
                          <m:t>𝑥</m:t>
                        </m:r>
                      </m:e>
                      <m:sub>
                        <m:r>
                          <a:rPr lang="en-US" sz="1900" i="1" dirty="0"/>
                          <m:t>𝑖</m:t>
                        </m:r>
                      </m:sub>
                    </m:sSub>
                    <m:r>
                      <a:rPr lang="en-US" sz="1900" i="1" dirty="0"/>
                      <m:t>+</m:t>
                    </m:r>
                    <m:r>
                      <a:rPr lang="en-US" sz="1900" i="1" dirty="0"/>
                      <m:t>𝑅𝑎𝑐</m:t>
                    </m:r>
                    <m:sSub>
                      <m:sSubPr>
                        <m:ctrlPr>
                          <a:rPr lang="en-US" sz="1900" i="1" dirty="0"/>
                        </m:ctrlPr>
                      </m:sSubPr>
                      <m:e>
                        <m:r>
                          <a:rPr lang="en-US" sz="1900" i="1" dirty="0"/>
                          <m:t>𝑒</m:t>
                        </m:r>
                      </m:e>
                      <m:sub>
                        <m:r>
                          <a:rPr lang="en-US" sz="1900" i="1" dirty="0"/>
                          <m:t>𝑖</m:t>
                        </m:r>
                      </m:sub>
                    </m:sSub>
                    <m:r>
                      <a:rPr lang="en-US" sz="1900" i="1" dirty="0"/>
                      <m:t>+</m:t>
                    </m:r>
                    <m:r>
                      <a:rPr lang="en-US" sz="1900" i="1" dirty="0"/>
                      <m:t>𝑅𝑒𝑔𝑖𝑜</m:t>
                    </m:r>
                    <m:sSub>
                      <m:sSubPr>
                        <m:ctrlPr>
                          <a:rPr lang="en-US" sz="1900" i="1" dirty="0"/>
                        </m:ctrlPr>
                      </m:sSubPr>
                      <m:e>
                        <m:r>
                          <a:rPr lang="en-US" sz="1900" i="1" dirty="0"/>
                          <m:t>𝑛</m:t>
                        </m:r>
                      </m:e>
                      <m:sub>
                        <m:r>
                          <a:rPr lang="en-US" sz="1900" i="1" dirty="0"/>
                          <m:t>𝑖</m:t>
                        </m:r>
                      </m:sub>
                    </m:sSub>
                    <m:r>
                      <a:rPr lang="en-US" sz="1900" i="1" dirty="0"/>
                      <m:t>+</m:t>
                    </m:r>
                    <m:r>
                      <a:rPr lang="en-US" sz="1900" i="1" dirty="0"/>
                      <m:t>𝑌𝑒𝑎𝑟</m:t>
                    </m:r>
                    <m:r>
                      <a:rPr lang="en-US" sz="1900" i="1" dirty="0"/>
                      <m:t>×</m:t>
                    </m:r>
                    <m:r>
                      <a:rPr lang="en-US" sz="1900" i="1" dirty="0"/>
                      <m:t>𝐼𝑛𝑑𝑢𝑠𝑡𝑟𝑦</m:t>
                    </m:r>
                    <m:r>
                      <a:rPr lang="en-US" sz="1900" i="1" dirty="0"/>
                      <m:t>+</m:t>
                    </m:r>
                    <m:sSub>
                      <m:sSubPr>
                        <m:ctrlPr>
                          <a:rPr lang="en-US" sz="1900" i="1" dirty="0"/>
                        </m:ctrlPr>
                      </m:sSubPr>
                      <m:e>
                        <m:r>
                          <a:rPr lang="en-US" sz="1900" i="1" dirty="0"/>
                          <m:t>𝜖</m:t>
                        </m:r>
                      </m:e>
                      <m:sub>
                        <m:r>
                          <a:rPr lang="en-US" sz="1900" i="1" dirty="0"/>
                          <m:t>𝑖</m:t>
                        </m:r>
                      </m:sub>
                    </m:sSub>
                  </m:oMath>
                </a14:m>
                <a:endParaRPr lang="en-US" sz="1900" i="1" dirty="0">
                  <a:latin typeface="Garamond" panose="02020404030301010803" pitchFamily="18" charset="0"/>
                </a:endParaRPr>
              </a:p>
              <a:p>
                <a:pPr lvl="1"/>
                <a:r>
                  <a:rPr lang="en-US" sz="1900" dirty="0">
                    <a:latin typeface="Garamond" panose="02020404030301010803" pitchFamily="18" charset="0"/>
                  </a:rPr>
                  <a:t>Then I include the BLS Employer Costs for Employee Compensation (ECEC), which captures what employers spend on wages and salaries for workers in the industry</a:t>
                </a:r>
              </a:p>
              <a:p>
                <a:pPr lvl="1"/>
                <a:r>
                  <a:rPr lang="en-US" sz="1900" dirty="0">
                    <a:latin typeface="Garamond" panose="02020404030301010803" pitchFamily="18" charset="0"/>
                  </a:rPr>
                  <a:t>I then standardize the measures and divide them by two. Together, this captures both relative wage advantage and the level of hourly wage expenditure associated with that industry. </a:t>
                </a:r>
              </a:p>
              <a:p>
                <a:pPr lvl="1"/>
                <a:endParaRPr lang="en-US" sz="1900" dirty="0">
                  <a:latin typeface="Garamond" panose="02020404030301010803" pitchFamily="18" charset="0"/>
                </a:endParaRPr>
              </a:p>
              <a:p>
                <a:pPr marL="228600" lvl="1" indent="0">
                  <a:buNone/>
                </a:pPr>
                <a14:m>
                  <m:oMathPara xmlns:m="http://schemas.openxmlformats.org/officeDocument/2006/math">
                    <m:oMath>
                      <m:r>
                        <a:rPr lang="en-US" sz="1900" i="1" dirty="0" smtClean="0">
                          <a:latin typeface="Cambria Math" panose="02040503050406030204" pitchFamily="18" charset="0"/>
                        </a:rPr>
                        <m:t>𝐶𝑜𝑚𝑝𝑒𝑛𝑠𝑎𝑡𝑖𝑜𝑛</m:t>
                      </m:r>
                      <m:r>
                        <a:rPr lang="en-US" sz="1900" i="0" dirty="0" smtClean="0">
                          <a:latin typeface="Cambria Math" panose="02040503050406030204" pitchFamily="18" charset="0"/>
                        </a:rPr>
                        <m:t>=</m:t>
                      </m:r>
                      <m:f>
                        <m:fPr>
                          <m:ctrlPr>
                            <a:rPr lang="en-US" sz="1900" i="1" dirty="0" smtClean="0">
                              <a:latin typeface="Cambria Math" panose="02040503050406030204" pitchFamily="18" charset="0"/>
                            </a:rPr>
                          </m:ctrlPr>
                        </m:fPr>
                        <m:num>
                          <m:r>
                            <a:rPr lang="en-US" sz="1900" i="1" dirty="0" smtClean="0">
                              <a:latin typeface="Cambria Math" panose="02040503050406030204" pitchFamily="18" charset="0"/>
                            </a:rPr>
                            <m:t>𝑍</m:t>
                          </m:r>
                          <m:d>
                            <m:dPr>
                              <m:ctrlPr>
                                <a:rPr lang="en-US" sz="1900" i="0" dirty="0" smtClean="0">
                                  <a:latin typeface="Garamond" panose="02020404030301010803" pitchFamily="18" charset="0"/>
                                  <a:cs typeface="Al Nile" pitchFamily="2" charset="-78"/>
                                </a:rPr>
                              </m:ctrlPr>
                            </m:dPr>
                            <m:e>
                              <m:r>
                                <m:rPr>
                                  <m:nor/>
                                </m:rPr>
                                <a:rPr lang="en-US" sz="1900" i="0" dirty="0" smtClean="0">
                                  <a:latin typeface="Garamond" panose="02020404030301010803" pitchFamily="18" charset="0"/>
                                  <a:cs typeface="Al Nile" pitchFamily="2" charset="-78"/>
                                </a:rPr>
                                <m:t>CPS wage premium</m:t>
                              </m:r>
                            </m:e>
                          </m:d>
                          <m:r>
                            <a:rPr lang="en-US" sz="1900" i="0" dirty="0" smtClean="0">
                              <a:latin typeface="Cambria Math" panose="02040503050406030204" pitchFamily="18" charset="0"/>
                            </a:rPr>
                            <m:t>+</m:t>
                          </m:r>
                          <m:r>
                            <a:rPr lang="en-US" sz="1900" i="1" dirty="0" smtClean="0">
                              <a:latin typeface="Cambria Math" panose="02040503050406030204" pitchFamily="18" charset="0"/>
                            </a:rPr>
                            <m:t>𝑍</m:t>
                          </m:r>
                          <m:d>
                            <m:dPr>
                              <m:ctrlPr>
                                <a:rPr lang="en-US" sz="1900" i="0" dirty="0" smtClean="0">
                                  <a:latin typeface="Garamond" panose="02020404030301010803" pitchFamily="18" charset="0"/>
                                  <a:cs typeface="Al Nile" pitchFamily="2" charset="-78"/>
                                </a:rPr>
                              </m:ctrlPr>
                            </m:dPr>
                            <m:e>
                              <m:r>
                                <m:rPr>
                                  <m:nor/>
                                </m:rPr>
                                <a:rPr lang="en-US" sz="1900" i="0" dirty="0" smtClean="0">
                                  <a:latin typeface="Garamond" panose="02020404030301010803" pitchFamily="18" charset="0"/>
                                  <a:cs typeface="Al Nile" pitchFamily="2" charset="-78"/>
                                </a:rPr>
                                <m:t>ECEC wage cost/hour</m:t>
                              </m:r>
                            </m:e>
                          </m:d>
                        </m:num>
                        <m:den>
                          <m:r>
                            <a:rPr lang="en-US" sz="1900" i="0" dirty="0" smtClean="0">
                              <a:latin typeface="Cambria Math" panose="02040503050406030204" pitchFamily="18" charset="0"/>
                            </a:rPr>
                            <m:t>2</m:t>
                          </m:r>
                        </m:den>
                      </m:f>
                    </m:oMath>
                  </m:oMathPara>
                </a14:m>
                <a:endParaRPr lang="en-US" sz="1900" dirty="0">
                  <a:latin typeface="Garamond" panose="02020404030301010803" pitchFamily="18" charset="0"/>
                  <a:cs typeface="Al Nile" pitchFamily="2" charset="-78"/>
                </a:endParaRPr>
              </a:p>
              <a:p>
                <a:pPr lvl="1"/>
                <a:endParaRPr lang="en-US" sz="1800" dirty="0"/>
              </a:p>
            </p:txBody>
          </p:sp>
        </mc:Choice>
        <mc:Fallback>
          <p:sp>
            <p:nvSpPr>
              <p:cNvPr id="3" name="Content Placeholder 2">
                <a:extLst>
                  <a:ext uri="{FF2B5EF4-FFF2-40B4-BE49-F238E27FC236}">
                    <a16:creationId xmlns:a16="http://schemas.microsoft.com/office/drawing/2014/main" id="{AF4DDDDB-C15B-3F6F-B657-0E84E83E42D9}"/>
                  </a:ext>
                </a:extLst>
              </p:cNvPr>
              <p:cNvSpPr>
                <a:spLocks noGrp="1" noRot="1" noChangeAspect="1" noMove="1" noResize="1" noEditPoints="1" noAdjustHandles="1" noChangeArrowheads="1" noChangeShapeType="1" noTextEdit="1"/>
              </p:cNvSpPr>
              <p:nvPr>
                <p:ph idx="1"/>
              </p:nvPr>
            </p:nvSpPr>
            <p:spPr>
              <a:xfrm>
                <a:off x="304798" y="1487022"/>
                <a:ext cx="11579353" cy="5148138"/>
              </a:xfrm>
              <a:blipFill>
                <a:blip r:embed="rId2"/>
                <a:stretch>
                  <a:fillRect l="-439" t="-246" r="-987"/>
                </a:stretch>
              </a:blipFill>
            </p:spPr>
            <p:txBody>
              <a:bodyPr/>
              <a:lstStyle/>
              <a:p>
                <a:r>
                  <a:rPr lang="en-US">
                    <a:noFill/>
                  </a:rPr>
                  <a:t> </a:t>
                </a:r>
              </a:p>
            </p:txBody>
          </p:sp>
        </mc:Fallback>
      </mc:AlternateContent>
    </p:spTree>
    <p:extLst>
      <p:ext uri="{BB962C8B-B14F-4D97-AF65-F5344CB8AC3E}">
        <p14:creationId xmlns:p14="http://schemas.microsoft.com/office/powerpoint/2010/main" val="40750414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6FAA8-153A-1D68-7BAA-348AC803C673}"/>
              </a:ext>
            </a:extLst>
          </p:cNvPr>
          <p:cNvSpPr>
            <a:spLocks noGrp="1"/>
          </p:cNvSpPr>
          <p:nvPr>
            <p:ph type="title"/>
          </p:nvPr>
        </p:nvSpPr>
        <p:spPr/>
        <p:txBody>
          <a:bodyPr/>
          <a:lstStyle/>
          <a:p>
            <a:r>
              <a:rPr lang="en-US" dirty="0">
                <a:latin typeface="Garamond" panose="02020404030301010803" pitchFamily="18" charset="0"/>
              </a:rPr>
              <a:t>Data – Benefits </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007DB55-44C0-FD57-DDB2-8658EB9FC7B0}"/>
                  </a:ext>
                </a:extLst>
              </p:cNvPr>
              <p:cNvSpPr>
                <a:spLocks noGrp="1"/>
              </p:cNvSpPr>
              <p:nvPr>
                <p:ph idx="1"/>
              </p:nvPr>
            </p:nvSpPr>
            <p:spPr/>
            <p:txBody>
              <a:bodyPr>
                <a:normAutofit/>
              </a:bodyPr>
              <a:lstStyle/>
              <a:p>
                <a:pPr marL="0" indent="0">
                  <a:buNone/>
                </a:pPr>
                <a:r>
                  <a:rPr lang="en-US" sz="2000" dirty="0">
                    <a:latin typeface="Garamond" panose="02020404030301010803" pitchFamily="18" charset="0"/>
                  </a:rPr>
                  <a:t>Separately, also from the ECEC, I construct the employer cost per hour for paid leave, insurance, and retirement costs (I choose not to include the benefits that they are legally mandated to pay at the same level so as to not artificially inflate the measure) </a:t>
                </a:r>
              </a:p>
              <a:p>
                <a:pPr marL="0" indent="0">
                  <a:buNone/>
                </a:pPr>
                <a:endParaRPr lang="en-US" sz="2000" i="1" dirty="0">
                  <a:latin typeface="Garamond" panose="02020404030301010803" pitchFamily="18" charset="0"/>
                </a:endParaRPr>
              </a:p>
              <a:p>
                <a:pPr marL="0" indent="0">
                  <a:buNone/>
                </a:pPr>
                <a14:m>
                  <m:oMathPara xmlns:m="http://schemas.openxmlformats.org/officeDocument/2006/math">
                    <m:oMath>
                      <m:r>
                        <a:rPr lang="en-US" sz="2000" i="1" dirty="0" smtClean="0">
                          <a:latin typeface="Cambria Math" panose="02040503050406030204" pitchFamily="18" charset="0"/>
                        </a:rPr>
                        <m:t>𝐵𝑒𝑛𝑒𝑓𝑖𝑡</m:t>
                      </m:r>
                      <m:sSub>
                        <m:sSubPr>
                          <m:ctrlPr>
                            <a:rPr lang="en-US" sz="2000" i="1" dirty="0">
                              <a:latin typeface="Cambria Math" panose="02040503050406030204" pitchFamily="18" charset="0"/>
                            </a:rPr>
                          </m:ctrlPr>
                        </m:sSubPr>
                        <m:e>
                          <m:r>
                            <a:rPr lang="en-US" sz="2000" i="1" dirty="0">
                              <a:latin typeface="Cambria Math" panose="02040503050406030204" pitchFamily="18" charset="0"/>
                            </a:rPr>
                            <m:t>𝑠</m:t>
                          </m:r>
                        </m:e>
                        <m:sub>
                          <m:r>
                            <a:rPr lang="en-US" sz="2000" i="1" dirty="0">
                              <a:latin typeface="Cambria Math" panose="02040503050406030204" pitchFamily="18" charset="0"/>
                            </a:rPr>
                            <m:t>𝑗𝑡</m:t>
                          </m:r>
                        </m:sub>
                      </m:sSub>
                      <m:r>
                        <a:rPr lang="en-US" sz="2000" i="0" dirty="0">
                          <a:latin typeface="Cambria Math" panose="02040503050406030204" pitchFamily="18" charset="0"/>
                        </a:rPr>
                        <m:t>=</m:t>
                      </m:r>
                      <m:r>
                        <a:rPr lang="en-US" sz="2000" i="1" dirty="0">
                          <a:latin typeface="Cambria Math" panose="02040503050406030204" pitchFamily="18" charset="0"/>
                        </a:rPr>
                        <m:t>𝑍</m:t>
                      </m:r>
                      <m:d>
                        <m:dPr>
                          <m:ctrlPr>
                            <a:rPr lang="en-US" sz="2000" i="1" dirty="0">
                              <a:latin typeface="Cambria Math" panose="02040503050406030204" pitchFamily="18" charset="0"/>
                            </a:rPr>
                          </m:ctrlPr>
                        </m:dPr>
                        <m:e>
                          <m:r>
                            <a:rPr lang="en-US" sz="2000" i="1" dirty="0">
                              <a:latin typeface="Cambria Math" panose="02040503050406030204" pitchFamily="18" charset="0"/>
                            </a:rPr>
                            <m:t>𝑃𝑎𝑖𝑑𝐿𝑒𝑎𝑣</m:t>
                          </m:r>
                          <m:sSub>
                            <m:sSubPr>
                              <m:ctrlPr>
                                <a:rPr lang="en-US" sz="2000" i="1" dirty="0">
                                  <a:latin typeface="Cambria Math" panose="02040503050406030204" pitchFamily="18" charset="0"/>
                                </a:rPr>
                              </m:ctrlPr>
                            </m:sSubPr>
                            <m:e>
                              <m:r>
                                <a:rPr lang="en-US" sz="2000" i="1" dirty="0">
                                  <a:latin typeface="Cambria Math" panose="02040503050406030204" pitchFamily="18" charset="0"/>
                                </a:rPr>
                                <m:t>𝑒</m:t>
                              </m:r>
                            </m:e>
                            <m:sub>
                              <m:r>
                                <a:rPr lang="en-US" sz="2000" i="1" dirty="0">
                                  <a:latin typeface="Cambria Math" panose="02040503050406030204" pitchFamily="18" charset="0"/>
                                </a:rPr>
                                <m:t>𝑗𝑡</m:t>
                              </m:r>
                            </m:sub>
                          </m:sSub>
                          <m:r>
                            <a:rPr lang="en-US" sz="2000" i="0" dirty="0">
                              <a:latin typeface="Cambria Math" panose="02040503050406030204" pitchFamily="18" charset="0"/>
                            </a:rPr>
                            <m:t>+</m:t>
                          </m:r>
                          <m:r>
                            <a:rPr lang="en-US" sz="2000" i="1" dirty="0">
                              <a:latin typeface="Cambria Math" panose="02040503050406030204" pitchFamily="18" charset="0"/>
                            </a:rPr>
                            <m:t>𝐼𝑛𝑠𝑢𝑟𝑎𝑛𝑐</m:t>
                          </m:r>
                          <m:sSub>
                            <m:sSubPr>
                              <m:ctrlPr>
                                <a:rPr lang="en-US" sz="2000" i="1" dirty="0">
                                  <a:latin typeface="Cambria Math" panose="02040503050406030204" pitchFamily="18" charset="0"/>
                                </a:rPr>
                              </m:ctrlPr>
                            </m:sSubPr>
                            <m:e>
                              <m:r>
                                <a:rPr lang="en-US" sz="2000" i="1" dirty="0">
                                  <a:latin typeface="Cambria Math" panose="02040503050406030204" pitchFamily="18" charset="0"/>
                                </a:rPr>
                                <m:t>𝑒</m:t>
                              </m:r>
                            </m:e>
                            <m:sub>
                              <m:r>
                                <a:rPr lang="en-US" sz="2000" i="1" dirty="0">
                                  <a:latin typeface="Cambria Math" panose="02040503050406030204" pitchFamily="18" charset="0"/>
                                </a:rPr>
                                <m:t>𝑗𝑡</m:t>
                              </m:r>
                            </m:sub>
                          </m:sSub>
                          <m:r>
                            <a:rPr lang="en-US" sz="2000" i="0" dirty="0">
                              <a:latin typeface="Cambria Math" panose="02040503050406030204" pitchFamily="18" charset="0"/>
                            </a:rPr>
                            <m:t>+</m:t>
                          </m:r>
                          <m:r>
                            <a:rPr lang="en-US" sz="2000" i="1" dirty="0">
                              <a:latin typeface="Cambria Math" panose="02040503050406030204" pitchFamily="18" charset="0"/>
                            </a:rPr>
                            <m:t>𝑅𝑒𝑡𝑖𝑟𝑒𝑚𝑒𝑛</m:t>
                          </m:r>
                          <m:sSub>
                            <m:sSubPr>
                              <m:ctrlPr>
                                <a:rPr lang="en-US" sz="2000" i="1" dirty="0">
                                  <a:latin typeface="Cambria Math" panose="02040503050406030204" pitchFamily="18" charset="0"/>
                                </a:rPr>
                              </m:ctrlPr>
                            </m:sSubPr>
                            <m:e>
                              <m:r>
                                <a:rPr lang="en-US" sz="2000" i="1" dirty="0">
                                  <a:latin typeface="Cambria Math" panose="02040503050406030204" pitchFamily="18" charset="0"/>
                                </a:rPr>
                                <m:t>𝑡</m:t>
                              </m:r>
                            </m:e>
                            <m:sub>
                              <m:r>
                                <a:rPr lang="en-US" sz="2000" i="1" dirty="0">
                                  <a:latin typeface="Cambria Math" panose="02040503050406030204" pitchFamily="18" charset="0"/>
                                </a:rPr>
                                <m:t>𝑗𝑡</m:t>
                              </m:r>
                            </m:sub>
                          </m:sSub>
                        </m:e>
                      </m:d>
                    </m:oMath>
                  </m:oMathPara>
                </a14:m>
                <a:endParaRPr lang="en-US" sz="2000" dirty="0">
                  <a:latin typeface="Garamond" panose="02020404030301010803" pitchFamily="18" charset="0"/>
                </a:endParaRPr>
              </a:p>
            </p:txBody>
          </p:sp>
        </mc:Choice>
        <mc:Fallback>
          <p:sp>
            <p:nvSpPr>
              <p:cNvPr id="3" name="Content Placeholder 2">
                <a:extLst>
                  <a:ext uri="{FF2B5EF4-FFF2-40B4-BE49-F238E27FC236}">
                    <a16:creationId xmlns:a16="http://schemas.microsoft.com/office/drawing/2014/main" id="{7007DB55-44C0-FD57-DDB2-8658EB9FC7B0}"/>
                  </a:ext>
                </a:extLst>
              </p:cNvPr>
              <p:cNvSpPr>
                <a:spLocks noGrp="1" noRot="1" noChangeAspect="1" noMove="1" noResize="1" noEditPoints="1" noAdjustHandles="1" noChangeArrowheads="1" noChangeShapeType="1" noTextEdit="1"/>
              </p:cNvSpPr>
              <p:nvPr>
                <p:ph idx="1"/>
              </p:nvPr>
            </p:nvSpPr>
            <p:spPr>
              <a:blipFill>
                <a:blip r:embed="rId2"/>
                <a:stretch>
                  <a:fillRect l="-579"/>
                </a:stretch>
              </a:blipFill>
            </p:spPr>
            <p:txBody>
              <a:bodyPr/>
              <a:lstStyle/>
              <a:p>
                <a:r>
                  <a:rPr lang="en-US">
                    <a:noFill/>
                  </a:rPr>
                  <a:t> </a:t>
                </a:r>
              </a:p>
            </p:txBody>
          </p:sp>
        </mc:Fallback>
      </mc:AlternateContent>
    </p:spTree>
    <p:extLst>
      <p:ext uri="{BB962C8B-B14F-4D97-AF65-F5344CB8AC3E}">
        <p14:creationId xmlns:p14="http://schemas.microsoft.com/office/powerpoint/2010/main" val="28079055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69CD2-88BA-654E-73FB-15AF49CEBF58}"/>
              </a:ext>
            </a:extLst>
          </p:cNvPr>
          <p:cNvSpPr>
            <a:spLocks noGrp="1"/>
          </p:cNvSpPr>
          <p:nvPr>
            <p:ph type="title"/>
          </p:nvPr>
        </p:nvSpPr>
        <p:spPr/>
        <p:txBody>
          <a:bodyPr/>
          <a:lstStyle/>
          <a:p>
            <a:r>
              <a:rPr lang="en-US" dirty="0">
                <a:latin typeface="Garamond" panose="02020404030301010803" pitchFamily="18" charset="0"/>
              </a:rPr>
              <a:t>Data – Earnings Stability</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B677FDC-CB6E-4B58-BBD7-2FCFF7829102}"/>
                  </a:ext>
                </a:extLst>
              </p:cNvPr>
              <p:cNvSpPr>
                <a:spLocks noGrp="1"/>
              </p:cNvSpPr>
              <p:nvPr>
                <p:ph idx="1"/>
              </p:nvPr>
            </p:nvSpPr>
            <p:spPr/>
            <p:txBody>
              <a:bodyPr/>
              <a:lstStyle/>
              <a:p>
                <a:r>
                  <a:rPr lang="en-US" sz="2000" dirty="0">
                    <a:latin typeface="Garamond" panose="02020404030301010803" pitchFamily="18" charset="0"/>
                  </a:rPr>
                  <a:t>Finally, I construct a measure of earnings volatility from the Census Quarterly Workforce Indicators  To do this, I:</a:t>
                </a:r>
              </a:p>
              <a:p>
                <a:pPr lvl="0"/>
                <a:r>
                  <a:rPr lang="en-US" sz="2000" dirty="0">
                    <a:latin typeface="Garamond" panose="02020404030301010803" pitchFamily="18" charset="0"/>
                  </a:rPr>
                  <a:t>Take quarterly earnings.</a:t>
                </a:r>
              </a:p>
              <a:p>
                <a:pPr lvl="0"/>
                <a:r>
                  <a:rPr lang="en-US" sz="2000" dirty="0">
                    <a:latin typeface="Garamond" panose="02020404030301010803" pitchFamily="18" charset="0"/>
                  </a:rPr>
                  <a:t>Calculate consecutive-quarter changes in log earnings.</a:t>
                </a:r>
              </a:p>
              <a:p>
                <a:pPr lvl="0"/>
                <a:r>
                  <a:rPr lang="en-US" sz="2000" dirty="0">
                    <a:latin typeface="Garamond" panose="02020404030301010803" pitchFamily="18" charset="0"/>
                  </a:rPr>
                  <a:t>Calculate a rolling four-quarter standard deviation.</a:t>
                </a:r>
              </a:p>
              <a:p>
                <a:pPr lvl="0"/>
                <a:r>
                  <a:rPr lang="en-US" sz="2000" dirty="0">
                    <a:latin typeface="Garamond" panose="02020404030301010803" pitchFamily="18" charset="0"/>
                  </a:rPr>
                  <a:t>Average those volatility measures to the annual industry level.</a:t>
                </a:r>
              </a:p>
              <a:p>
                <a:pPr lvl="0"/>
                <a:r>
                  <a:rPr lang="en-US" sz="2000" dirty="0">
                    <a:latin typeface="Garamond" panose="02020404030301010803" pitchFamily="18" charset="0"/>
                  </a:rPr>
                  <a:t>Reverse the sign so that </a:t>
                </a:r>
                <a:r>
                  <a:rPr lang="en-US" sz="2000" i="1" dirty="0">
                    <a:latin typeface="Garamond" panose="02020404030301010803" pitchFamily="18" charset="0"/>
                  </a:rPr>
                  <a:t>higher values mean greater earnings stability.</a:t>
                </a:r>
              </a:p>
              <a:p>
                <a:pPr lvl="0"/>
                <a:endParaRPr lang="en-US" sz="2000" dirty="0">
                  <a:latin typeface="Garamond" panose="02020404030301010803" pitchFamily="18" charset="0"/>
                </a:endParaRPr>
              </a:p>
              <a:p>
                <a:pPr marL="0" lvl="0" indent="0">
                  <a:buNone/>
                </a:pPr>
                <a14:m>
                  <m:oMathPara xmlns:m="http://schemas.openxmlformats.org/officeDocument/2006/math">
                    <m:oMath>
                      <m:r>
                        <a:rPr lang="en-US" sz="2000" i="1" dirty="0" smtClean="0">
                          <a:latin typeface="Cambria Math" panose="02040503050406030204" pitchFamily="18" charset="0"/>
                        </a:rPr>
                        <m:t>𝐸𝑎𝑟𝑛𝑖𝑛𝑔𝑠𝑆𝑡𝑎𝑏𝑖𝑙𝑖𝑡</m:t>
                      </m:r>
                      <m:sSub>
                        <m:sSubPr>
                          <m:ctrlPr>
                            <a:rPr lang="en-US" sz="2000" i="1" dirty="0">
                              <a:latin typeface="Cambria Math" panose="02040503050406030204" pitchFamily="18" charset="0"/>
                            </a:rPr>
                          </m:ctrlPr>
                        </m:sSubPr>
                        <m:e>
                          <m:r>
                            <a:rPr lang="en-US" sz="2000" i="1" dirty="0">
                              <a:latin typeface="Cambria Math" panose="02040503050406030204" pitchFamily="18" charset="0"/>
                            </a:rPr>
                            <m:t>𝑦</m:t>
                          </m:r>
                        </m:e>
                        <m:sub>
                          <m:r>
                            <a:rPr lang="en-US" sz="2000" i="1" dirty="0">
                              <a:latin typeface="Cambria Math" panose="02040503050406030204" pitchFamily="18" charset="0"/>
                            </a:rPr>
                            <m:t>𝑗𝑡</m:t>
                          </m:r>
                        </m:sub>
                      </m:sSub>
                      <m:r>
                        <a:rPr lang="en-US" sz="2000" i="0" dirty="0">
                          <a:latin typeface="Cambria Math" panose="02040503050406030204" pitchFamily="18" charset="0"/>
                        </a:rPr>
                        <m:t>=−</m:t>
                      </m:r>
                      <m:r>
                        <a:rPr lang="en-US" sz="2000" i="1" dirty="0">
                          <a:latin typeface="Cambria Math" panose="02040503050406030204" pitchFamily="18" charset="0"/>
                        </a:rPr>
                        <m:t>𝑍</m:t>
                      </m:r>
                      <m:d>
                        <m:dPr>
                          <m:begChr m:val="["/>
                          <m:endChr m:val="]"/>
                          <m:ctrlPr>
                            <a:rPr lang="en-US" sz="2000" i="1" dirty="0">
                              <a:latin typeface="Cambria Math" panose="02040503050406030204" pitchFamily="18" charset="0"/>
                            </a:rPr>
                          </m:ctrlPr>
                        </m:dPr>
                        <m:e>
                          <m:r>
                            <a:rPr lang="en-US" sz="2000" i="1" dirty="0">
                              <a:latin typeface="Cambria Math" panose="02040503050406030204" pitchFamily="18" charset="0"/>
                            </a:rPr>
                            <m:t>𝑆𝐷</m:t>
                          </m:r>
                          <m:d>
                            <m:dPr>
                              <m:ctrlPr>
                                <a:rPr lang="en-US" sz="2000" i="0" dirty="0">
                                  <a:latin typeface="Cambria Math" panose="02040503050406030204" pitchFamily="18" charset="0"/>
                                </a:rPr>
                              </m:ctrlPr>
                            </m:dPr>
                            <m:e>
                              <m:r>
                                <m:rPr>
                                  <m:sty m:val="p"/>
                                </m:rPr>
                                <a:rPr lang="en-US" sz="2000" i="0" dirty="0">
                                  <a:latin typeface="Cambria Math" panose="02040503050406030204" pitchFamily="18" charset="0"/>
                                </a:rPr>
                                <m:t>Δ</m:t>
                              </m:r>
                              <m:func>
                                <m:funcPr>
                                  <m:ctrlPr>
                                    <a:rPr lang="en-US" sz="2000" i="0" dirty="0">
                                      <a:latin typeface="Cambria Math" panose="02040503050406030204" pitchFamily="18" charset="0"/>
                                    </a:rPr>
                                  </m:ctrlPr>
                                </m:funcPr>
                                <m:fName>
                                  <m:r>
                                    <m:rPr>
                                      <m:sty m:val="p"/>
                                    </m:rPr>
                                    <a:rPr lang="en-US" sz="2000" i="0" dirty="0">
                                      <a:latin typeface="Cambria Math" panose="02040503050406030204" pitchFamily="18" charset="0"/>
                                    </a:rPr>
                                    <m:t>log</m:t>
                                  </m:r>
                                </m:fName>
                                <m:e>
                                  <m:r>
                                    <a:rPr lang="en-US" sz="2000" i="1" dirty="0">
                                      <a:latin typeface="Cambria Math" panose="02040503050406030204" pitchFamily="18" charset="0"/>
                                    </a:rPr>
                                    <m:t>𝐸</m:t>
                                  </m:r>
                                </m:e>
                              </m:func>
                              <m:r>
                                <a:rPr lang="en-US" sz="2000" i="1" dirty="0">
                                  <a:latin typeface="Cambria Math" panose="02040503050406030204" pitchFamily="18" charset="0"/>
                                </a:rPr>
                                <m:t>𝑎𝑟𝑛𝑖𝑛𝑔</m:t>
                              </m:r>
                              <m:sSub>
                                <m:sSubPr>
                                  <m:ctrlPr>
                                    <a:rPr lang="en-US" sz="2000" i="1" dirty="0">
                                      <a:latin typeface="Cambria Math" panose="02040503050406030204" pitchFamily="18" charset="0"/>
                                    </a:rPr>
                                  </m:ctrlPr>
                                </m:sSubPr>
                                <m:e>
                                  <m:r>
                                    <a:rPr lang="en-US" sz="2000" i="1" dirty="0">
                                      <a:latin typeface="Cambria Math" panose="02040503050406030204" pitchFamily="18" charset="0"/>
                                    </a:rPr>
                                    <m:t>𝑠</m:t>
                                  </m:r>
                                </m:e>
                                <m:sub>
                                  <m:r>
                                    <a:rPr lang="en-US" sz="2000" i="1" dirty="0">
                                      <a:latin typeface="Cambria Math" panose="02040503050406030204" pitchFamily="18" charset="0"/>
                                    </a:rPr>
                                    <m:t>𝑗𝑡</m:t>
                                  </m:r>
                                </m:sub>
                              </m:sSub>
                            </m:e>
                          </m:d>
                        </m:e>
                      </m:d>
                    </m:oMath>
                  </m:oMathPara>
                </a14:m>
                <a:endParaRPr lang="en-US" sz="2000" dirty="0">
                  <a:latin typeface="Garamond" panose="02020404030301010803" pitchFamily="18" charset="0"/>
                </a:endParaRPr>
              </a:p>
              <a:p>
                <a:endParaRPr lang="en-US" dirty="0"/>
              </a:p>
            </p:txBody>
          </p:sp>
        </mc:Choice>
        <mc:Fallback>
          <p:sp>
            <p:nvSpPr>
              <p:cNvPr id="3" name="Content Placeholder 2">
                <a:extLst>
                  <a:ext uri="{FF2B5EF4-FFF2-40B4-BE49-F238E27FC236}">
                    <a16:creationId xmlns:a16="http://schemas.microsoft.com/office/drawing/2014/main" id="{CB677FDC-CB6E-4B58-BBD7-2FCFF7829102}"/>
                  </a:ext>
                </a:extLst>
              </p:cNvPr>
              <p:cNvSpPr>
                <a:spLocks noGrp="1" noRot="1" noChangeAspect="1" noMove="1" noResize="1" noEditPoints="1" noAdjustHandles="1" noChangeArrowheads="1" noChangeShapeType="1" noTextEdit="1"/>
              </p:cNvSpPr>
              <p:nvPr>
                <p:ph idx="1"/>
              </p:nvPr>
            </p:nvSpPr>
            <p:spPr>
              <a:blipFill>
                <a:blip r:embed="rId2"/>
                <a:stretch>
                  <a:fillRect l="-463"/>
                </a:stretch>
              </a:blipFill>
            </p:spPr>
            <p:txBody>
              <a:bodyPr/>
              <a:lstStyle/>
              <a:p>
                <a:r>
                  <a:rPr lang="en-US">
                    <a:noFill/>
                  </a:rPr>
                  <a:t> </a:t>
                </a:r>
              </a:p>
            </p:txBody>
          </p:sp>
        </mc:Fallback>
      </mc:AlternateContent>
    </p:spTree>
    <p:extLst>
      <p:ext uri="{BB962C8B-B14F-4D97-AF65-F5344CB8AC3E}">
        <p14:creationId xmlns:p14="http://schemas.microsoft.com/office/powerpoint/2010/main" val="12773860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1D5C9-00F9-E564-9E51-C2142ABE721F}"/>
              </a:ext>
            </a:extLst>
          </p:cNvPr>
          <p:cNvSpPr>
            <a:spLocks noGrp="1"/>
          </p:cNvSpPr>
          <p:nvPr>
            <p:ph type="title"/>
          </p:nvPr>
        </p:nvSpPr>
        <p:spPr/>
        <p:txBody>
          <a:bodyPr/>
          <a:lstStyle/>
          <a:p>
            <a:r>
              <a:rPr lang="en-US" dirty="0">
                <a:latin typeface="Garamond" panose="02020404030301010803" pitchFamily="18" charset="0"/>
              </a:rPr>
              <a:t>JQI</a:t>
            </a:r>
          </a:p>
        </p:txBody>
      </p:sp>
      <p:sp>
        <p:nvSpPr>
          <p:cNvPr id="3" name="Content Placeholder 2">
            <a:extLst>
              <a:ext uri="{FF2B5EF4-FFF2-40B4-BE49-F238E27FC236}">
                <a16:creationId xmlns:a16="http://schemas.microsoft.com/office/drawing/2014/main" id="{C02011BD-EEC4-09E2-1168-3F72FF85D489}"/>
              </a:ext>
            </a:extLst>
          </p:cNvPr>
          <p:cNvSpPr>
            <a:spLocks noGrp="1"/>
          </p:cNvSpPr>
          <p:nvPr>
            <p:ph idx="1"/>
          </p:nvPr>
        </p:nvSpPr>
        <p:spPr>
          <a:xfrm>
            <a:off x="612648" y="1684126"/>
            <a:ext cx="10963656" cy="4513752"/>
          </a:xfrm>
        </p:spPr>
        <p:txBody>
          <a:bodyPr>
            <a:normAutofit/>
          </a:bodyPr>
          <a:lstStyle/>
          <a:p>
            <a:r>
              <a:rPr lang="en-US" sz="2000" dirty="0">
                <a:latin typeface="Garamond" panose="02020404030301010803" pitchFamily="18" charset="0"/>
              </a:rPr>
              <a:t>In many of the models, I standardize these components into what I call a JQI (Job Quality Index)  </a:t>
            </a:r>
          </a:p>
          <a:p>
            <a:r>
              <a:rPr lang="en-US" sz="2000" dirty="0">
                <a:latin typeface="Garamond" panose="02020404030301010803" pitchFamily="18" charset="0"/>
              </a:rPr>
              <a:t>While for the purposes of the presentation I do disaggregate these components, conceptually I’m separating how much a job pays, the relative security it provides, and its earnings predictability for its workers. </a:t>
            </a:r>
          </a:p>
        </p:txBody>
      </p:sp>
    </p:spTree>
    <p:extLst>
      <p:ext uri="{BB962C8B-B14F-4D97-AF65-F5344CB8AC3E}">
        <p14:creationId xmlns:p14="http://schemas.microsoft.com/office/powerpoint/2010/main" val="20000273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C52C5-86D8-DFD1-D54D-30167BC1DC2D}"/>
              </a:ext>
            </a:extLst>
          </p:cNvPr>
          <p:cNvSpPr>
            <a:spLocks noGrp="1"/>
          </p:cNvSpPr>
          <p:nvPr>
            <p:ph type="title"/>
          </p:nvPr>
        </p:nvSpPr>
        <p:spPr/>
        <p:txBody>
          <a:bodyPr/>
          <a:lstStyle/>
          <a:p>
            <a:r>
              <a:rPr lang="en-US" dirty="0">
                <a:latin typeface="Garamond" panose="02020404030301010803" pitchFamily="18" charset="0"/>
              </a:rPr>
              <a:t>Outline for the Rest of the Talk</a:t>
            </a:r>
          </a:p>
        </p:txBody>
      </p:sp>
      <p:sp>
        <p:nvSpPr>
          <p:cNvPr id="3" name="Content Placeholder 2">
            <a:extLst>
              <a:ext uri="{FF2B5EF4-FFF2-40B4-BE49-F238E27FC236}">
                <a16:creationId xmlns:a16="http://schemas.microsoft.com/office/drawing/2014/main" id="{6D707A87-7E23-7BC9-CED6-15AE87669B6C}"/>
              </a:ext>
            </a:extLst>
          </p:cNvPr>
          <p:cNvSpPr>
            <a:spLocks noGrp="1"/>
          </p:cNvSpPr>
          <p:nvPr>
            <p:ph idx="1"/>
          </p:nvPr>
        </p:nvSpPr>
        <p:spPr/>
        <p:txBody>
          <a:bodyPr>
            <a:normAutofit/>
          </a:bodyPr>
          <a:lstStyle/>
          <a:p>
            <a:r>
              <a:rPr lang="en-US" sz="2000" dirty="0">
                <a:latin typeface="Garamond" panose="02020404030301010803" pitchFamily="18" charset="0"/>
              </a:rPr>
              <a:t>Does this index capture things that other dimensions of objective and subjective financial quality don’t?</a:t>
            </a:r>
          </a:p>
          <a:p>
            <a:r>
              <a:rPr lang="en-US" sz="2000" dirty="0">
                <a:latin typeface="Garamond" panose="02020404030301010803" pitchFamily="18" charset="0"/>
              </a:rPr>
              <a:t>Does this have additional descriptive power for important questions around political attitudes?</a:t>
            </a:r>
          </a:p>
          <a:p>
            <a:r>
              <a:rPr lang="en-US" sz="2000" dirty="0">
                <a:latin typeface="Garamond" panose="02020404030301010803" pitchFamily="18" charset="0"/>
              </a:rPr>
              <a:t>Are those questions and the potential additional information that it gives us distinct for different populations, particularly African Americans? </a:t>
            </a:r>
          </a:p>
        </p:txBody>
      </p:sp>
    </p:spTree>
    <p:extLst>
      <p:ext uri="{BB962C8B-B14F-4D97-AF65-F5344CB8AC3E}">
        <p14:creationId xmlns:p14="http://schemas.microsoft.com/office/powerpoint/2010/main" val="34257684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8B751-0479-46DD-D158-A3B3A8C9BA3D}"/>
              </a:ext>
            </a:extLst>
          </p:cNvPr>
          <p:cNvSpPr>
            <a:spLocks noGrp="1"/>
          </p:cNvSpPr>
          <p:nvPr>
            <p:ph type="title"/>
          </p:nvPr>
        </p:nvSpPr>
        <p:spPr/>
        <p:txBody>
          <a:bodyPr/>
          <a:lstStyle/>
          <a:p>
            <a:r>
              <a:rPr lang="en-US" dirty="0">
                <a:latin typeface="Garamond" panose="02020404030301010803" pitchFamily="18" charset="0"/>
              </a:rPr>
              <a:t>What Does Job Quality Tell Us that Other Measures Don’t? </a:t>
            </a:r>
          </a:p>
        </p:txBody>
      </p:sp>
      <p:sp>
        <p:nvSpPr>
          <p:cNvPr id="3" name="Content Placeholder 2">
            <a:extLst>
              <a:ext uri="{FF2B5EF4-FFF2-40B4-BE49-F238E27FC236}">
                <a16:creationId xmlns:a16="http://schemas.microsoft.com/office/drawing/2014/main" id="{E25E3780-A148-F530-CC1A-A84B0B6C8F73}"/>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1657056831"/>
      </p:ext>
    </p:extLst>
  </p:cSld>
  <p:clrMapOvr>
    <a:masterClrMapping/>
  </p:clrMapOvr>
</p:sld>
</file>

<file path=ppt/theme/theme1.xml><?xml version="1.0" encoding="utf-8"?>
<a:theme xmlns:a="http://schemas.openxmlformats.org/drawingml/2006/main" name="Helena">
  <a:themeElements>
    <a:clrScheme name="Helen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lena" id="{83B93026-B8A4-4FE9-8E48-8009734911E7}" vid="{E43B60F7-EC4F-4A08-AFF5-BDC94162E533}"/>
    </a:ext>
  </a:extLst>
</a:theme>
</file>

<file path=docMetadata/LabelInfo.xml><?xml version="1.0" encoding="utf-8"?>
<clbl:labelList xmlns:clbl="http://schemas.microsoft.com/office/2020/mipLabelMetadata">
  <clbl:label id="{1a19d03a-48bc-4359-8038-5b5f6d5847c3}"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{5E9A12D2-5B69-914D-A622-5651F7C0D4B0}659a41c6-8e87-4cfd-8ac1-7a6b614ae15f-TF7f24e589-d1f4-4915-85bd-1c86c4ff5545_mac</Template>
  <TotalTime>81</TotalTime>
  <Words>677</Words>
  <Application>Microsoft Macintosh PowerPoint</Application>
  <PresentationFormat>Widescreen</PresentationFormat>
  <Paragraphs>37</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Cambria Math</vt:lpstr>
      <vt:lpstr>Garamond</vt:lpstr>
      <vt:lpstr>Neue Haas Grotesk Text Pro</vt:lpstr>
      <vt:lpstr>Helena</vt:lpstr>
      <vt:lpstr>Job Quality, Political Attitudes, and New Evidence on Old Questions</vt:lpstr>
      <vt:lpstr>What is a Good Job? And Why Does it Matter for Political Attitudes?</vt:lpstr>
      <vt:lpstr>PowerPoint Presentation</vt:lpstr>
      <vt:lpstr>Data - Compensation</vt:lpstr>
      <vt:lpstr>Data – Benefits </vt:lpstr>
      <vt:lpstr>Data – Earnings Stability</vt:lpstr>
      <vt:lpstr>JQI</vt:lpstr>
      <vt:lpstr>Outline for the Rest of the Talk</vt:lpstr>
      <vt:lpstr>What Does Job Quality Tell Us that Other Measures Don’t?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Christian Hosam</dc:creator>
  <cp:lastModifiedBy>Christian Hosam</cp:lastModifiedBy>
  <cp:revision>1</cp:revision>
  <dcterms:created xsi:type="dcterms:W3CDTF">2026-10-06T22:12:27Z</dcterms:created>
  <dcterms:modified xsi:type="dcterms:W3CDTF">2026-10-06T23:33:47Z</dcterms:modified>
</cp:coreProperties>
</file>