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83" r:id="rId4"/>
    <p:sldId id="284" r:id="rId5"/>
    <p:sldId id="285" r:id="rId6"/>
    <p:sldId id="286" r:id="rId7"/>
    <p:sldId id="258" r:id="rId8"/>
    <p:sldId id="259" r:id="rId9"/>
    <p:sldId id="260" r:id="rId10"/>
    <p:sldId id="261" r:id="rId11"/>
    <p:sldId id="262" r:id="rId12"/>
    <p:sldId id="277" r:id="rId13"/>
    <p:sldId id="263" r:id="rId14"/>
    <p:sldId id="266" r:id="rId15"/>
    <p:sldId id="265" r:id="rId16"/>
    <p:sldId id="279" r:id="rId17"/>
    <p:sldId id="264" r:id="rId18"/>
    <p:sldId id="274" r:id="rId19"/>
    <p:sldId id="278" r:id="rId20"/>
    <p:sldId id="275" r:id="rId21"/>
    <p:sldId id="271" r:id="rId22"/>
    <p:sldId id="276" r:id="rId23"/>
    <p:sldId id="268" r:id="rId24"/>
    <p:sldId id="273" r:id="rId25"/>
    <p:sldId id="281" r:id="rId26"/>
    <p:sldId id="280"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17"/>
    <p:restoredTop sz="94674"/>
  </p:normalViewPr>
  <p:slideViewPr>
    <p:cSldViewPr snapToGrid="0">
      <p:cViewPr varScale="1">
        <p:scale>
          <a:sx n="95" d="100"/>
          <a:sy n="95" d="100"/>
        </p:scale>
        <p:origin x="192"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E7F4A-73DA-5C4A-8692-03E3023F9CDA}"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CD695F-CDF3-D141-A557-FBFB87985C62}" type="slidenum">
              <a:rPr lang="en-US" smtClean="0"/>
              <a:t>‹#›</a:t>
            </a:fld>
            <a:endParaRPr lang="en-US"/>
          </a:p>
        </p:txBody>
      </p:sp>
    </p:spTree>
    <p:extLst>
      <p:ext uri="{BB962C8B-B14F-4D97-AF65-F5344CB8AC3E}">
        <p14:creationId xmlns:p14="http://schemas.microsoft.com/office/powerpoint/2010/main" val="253417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200" dirty="0">
                    <a:latin typeface="Garamond" panose="02020404030301010803" pitchFamily="18" charset="0"/>
                  </a:rPr>
                  <a:t>In the dataset, the CPS wage premium is estimated as:  </a:t>
                </a:r>
                <a14:m>
                  <m:oMath xmlns:m="http://schemas.openxmlformats.org/officeDocument/2006/math">
                    <m:func>
                      <m:funcPr>
                        <m:ctrlPr>
                          <a:rPr lang="en-US" sz="1200" i="1" dirty="0">
                            <a:latin typeface="Cambria Math" panose="02040503050406030204" pitchFamily="18" charset="0"/>
                          </a:rPr>
                        </m:ctrlPr>
                      </m:funcPr>
                      <m:fName>
                        <m:r>
                          <a:rPr lang="en-US" sz="1200" i="1" dirty="0">
                            <a:latin typeface="Cambria Math" panose="02040503050406030204" pitchFamily="18" charset="0"/>
                          </a:rPr>
                          <m:t>𝑙𝑜𝑔</m:t>
                        </m:r>
                      </m:fName>
                      <m:e>
                        <m:d>
                          <m:dPr>
                            <m:ctrlPr>
                              <a:rPr lang="en-US" sz="1200" i="1" dirty="0">
                                <a:latin typeface="Cambria Math" panose="02040503050406030204" pitchFamily="18" charset="0"/>
                              </a:rPr>
                            </m:ctrlPr>
                          </m:dPr>
                          <m:e>
                            <m:r>
                              <a:rPr lang="en-US" sz="1200" i="1" dirty="0">
                                <a:latin typeface="Cambria Math" panose="02040503050406030204" pitchFamily="18" charset="0"/>
                              </a:rPr>
                              <m:t>𝐻𝑜𝑢𝑟𝑙𝑦𝑊𝑎𝑔</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𝑒</m:t>
                                </m:r>
                              </m:e>
                              <m:sub>
                                <m:r>
                                  <a:rPr lang="en-US" sz="1200" i="1" dirty="0">
                                    <a:latin typeface="Cambria Math" panose="02040503050406030204" pitchFamily="18" charset="0"/>
                                  </a:rPr>
                                  <m:t>𝑖</m:t>
                                </m:r>
                              </m:sub>
                            </m:sSub>
                          </m:e>
                        </m:d>
                      </m:e>
                    </m:func>
                    <m:r>
                      <a:rPr lang="en-US" sz="1200" i="1" dirty="0">
                        <a:latin typeface="Cambria Math" panose="02040503050406030204" pitchFamily="18" charset="0"/>
                      </a:rPr>
                      <m:t>=</m:t>
                    </m:r>
                    <m:r>
                      <a:rPr lang="en-US" sz="1200" i="1" dirty="0">
                        <a:latin typeface="Cambria Math" panose="02040503050406030204" pitchFamily="18" charset="0"/>
                      </a:rPr>
                      <m:t>𝛼</m:t>
                    </m:r>
                    <m:r>
                      <a:rPr lang="en-US" sz="1200" i="1" dirty="0">
                        <a:latin typeface="Cambria Math" panose="02040503050406030204" pitchFamily="18" charset="0"/>
                      </a:rPr>
                      <m:t>+</m:t>
                    </m:r>
                    <m:r>
                      <a:rPr lang="en-US" sz="1200" i="1" dirty="0">
                        <a:latin typeface="Cambria Math" panose="02040503050406030204" pitchFamily="18" charset="0"/>
                      </a:rPr>
                      <m:t>𝐸𝑑𝑢𝑐𝑎𝑡𝑖𝑜</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𝑛</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r>
                      <a:rPr lang="en-US" sz="1200" i="1" dirty="0">
                        <a:latin typeface="Cambria Math" panose="02040503050406030204" pitchFamily="18" charset="0"/>
                      </a:rPr>
                      <m:t>𝐸𝑥𝑝𝑒𝑟𝑖𝑒𝑛𝑐</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𝑒</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r>
                      <a:rPr lang="en-US" sz="1200" i="1" dirty="0">
                        <a:latin typeface="Cambria Math" panose="02040503050406030204" pitchFamily="18" charset="0"/>
                      </a:rPr>
                      <m:t>𝐸𝑥𝑝𝑒𝑟𝑖𝑒𝑛𝑐</m:t>
                    </m:r>
                    <m:sSubSup>
                      <m:sSubSupPr>
                        <m:ctrlPr>
                          <a:rPr lang="en-US" sz="1200" i="1" dirty="0">
                            <a:latin typeface="Cambria Math" panose="02040503050406030204" pitchFamily="18" charset="0"/>
                          </a:rPr>
                        </m:ctrlPr>
                      </m:sSubSupPr>
                      <m:e>
                        <m:r>
                          <a:rPr lang="en-US" sz="1200" i="1" dirty="0">
                            <a:latin typeface="Cambria Math" panose="02040503050406030204" pitchFamily="18" charset="0"/>
                          </a:rPr>
                          <m:t>𝑒</m:t>
                        </m:r>
                      </m:e>
                      <m:sub>
                        <m:r>
                          <a:rPr lang="en-US" sz="1200" i="1" dirty="0">
                            <a:latin typeface="Cambria Math" panose="02040503050406030204" pitchFamily="18" charset="0"/>
                          </a:rPr>
                          <m:t>𝑖</m:t>
                        </m:r>
                      </m:sub>
                      <m:sup>
                        <m:r>
                          <a:rPr lang="en-US" sz="1200" i="1" dirty="0">
                            <a:latin typeface="Cambria Math" panose="02040503050406030204" pitchFamily="18" charset="0"/>
                          </a:rPr>
                          <m:t>2</m:t>
                        </m:r>
                      </m:sup>
                    </m:sSubSup>
                    <m:r>
                      <a:rPr lang="en-US" sz="1200" i="1" dirty="0">
                        <a:latin typeface="Cambria Math" panose="02040503050406030204" pitchFamily="18" charset="0"/>
                      </a:rPr>
                      <m:t>+</m:t>
                    </m:r>
                    <m:r>
                      <a:rPr lang="en-US" sz="1200" i="1" dirty="0">
                        <a:latin typeface="Cambria Math" panose="02040503050406030204" pitchFamily="18" charset="0"/>
                      </a:rPr>
                      <m:t>𝑆𝑒</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𝑥</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r>
                      <a:rPr lang="en-US" sz="1200" i="1" dirty="0">
                        <a:latin typeface="Cambria Math" panose="02040503050406030204" pitchFamily="18" charset="0"/>
                      </a:rPr>
                      <m:t>𝑅𝑎𝑐</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𝑒</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r>
                      <a:rPr lang="en-US" sz="1200" i="1" dirty="0">
                        <a:latin typeface="Cambria Math" panose="02040503050406030204" pitchFamily="18" charset="0"/>
                      </a:rPr>
                      <m:t>𝑅𝑒𝑔𝑖𝑜</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𝑛</m:t>
                        </m:r>
                      </m:e>
                      <m:sub>
                        <m:r>
                          <a:rPr lang="en-US" sz="1200" i="1" dirty="0">
                            <a:latin typeface="Cambria Math" panose="02040503050406030204" pitchFamily="18" charset="0"/>
                          </a:rPr>
                          <m:t>𝑖</m:t>
                        </m:r>
                      </m:sub>
                    </m:sSub>
                    <m:r>
                      <a:rPr lang="en-US" sz="1200" i="1" dirty="0">
                        <a:latin typeface="Cambria Math" panose="02040503050406030204" pitchFamily="18" charset="0"/>
                      </a:rPr>
                      <m:t>+</m:t>
                    </m:r>
                    <m:r>
                      <a:rPr lang="en-US" sz="1200" i="1" dirty="0">
                        <a:latin typeface="Cambria Math" panose="02040503050406030204" pitchFamily="18" charset="0"/>
                      </a:rPr>
                      <m:t>𝑌𝑒𝑎𝑟</m:t>
                    </m:r>
                    <m:r>
                      <a:rPr lang="en-US" sz="1200" i="1" dirty="0">
                        <a:latin typeface="Cambria Math" panose="02040503050406030204" pitchFamily="18" charset="0"/>
                      </a:rPr>
                      <m:t>×</m:t>
                    </m:r>
                    <m:r>
                      <a:rPr lang="en-US" sz="1200" i="1" dirty="0">
                        <a:latin typeface="Cambria Math" panose="02040503050406030204" pitchFamily="18" charset="0"/>
                      </a:rPr>
                      <m:t>𝐼𝑛𝑑𝑢𝑠𝑡𝑟𝑦</m:t>
                    </m:r>
                    <m:r>
                      <a:rPr lang="en-US" sz="1200" i="1" dirty="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a:latin typeface="Cambria Math" panose="02040503050406030204" pitchFamily="18" charset="0"/>
                          </a:rPr>
                          <m:t>𝜖</m:t>
                        </m:r>
                      </m:e>
                      <m:sub>
                        <m:r>
                          <a:rPr lang="en-US" sz="1200" i="1" dirty="0">
                            <a:latin typeface="Cambria Math" panose="02040503050406030204" pitchFamily="18" charset="0"/>
                          </a:rPr>
                          <m:t>𝑖</m:t>
                        </m:r>
                      </m:sub>
                    </m:sSub>
                  </m:oMath>
                </a14:m>
                <a:endParaRPr lang="en-US" dirty="0"/>
              </a:p>
            </p:txBody>
          </p:sp>
        </mc:Choice>
        <mc:Fallback>
          <p:sp>
            <p:nvSpPr>
              <p:cNvPr id="3" name="Notes Placeholder 2"/>
              <p:cNvSpPr>
                <a:spLocks noGrp="1"/>
              </p:cNvSpPr>
              <p:nvPr>
                <p:ph type="body" idx="1"/>
              </p:nvPr>
            </p:nvSpPr>
            <p:spPr/>
            <p:txBody>
              <a:bodyPr/>
              <a:lstStyle/>
              <a:p>
                <a:r>
                  <a:rPr lang="en-US" sz="1200" dirty="0">
                    <a:latin typeface="Garamond" panose="02020404030301010803" pitchFamily="18" charset="0"/>
                  </a:rPr>
                  <a:t>In the dataset, the CPS wage premium is estimated as:  </a:t>
                </a:r>
                <a:r>
                  <a:rPr lang="en-US" sz="1200" i="0" dirty="0">
                    <a:latin typeface="Cambria Math" panose="02040503050406030204" pitchFamily="18" charset="0"/>
                  </a:rPr>
                  <a:t>𝑙𝑜𝑔⁡(𝐻𝑜𝑢𝑟𝑙𝑦𝑊𝑎𝑔𝑒_𝑖 )=𝛼+𝐸𝑑𝑢𝑐𝑎𝑡𝑖𝑜𝑛_𝑖+𝐸𝑥𝑝𝑒𝑟𝑖𝑒𝑛𝑐𝑒_𝑖+𝐸𝑥𝑝𝑒𝑟𝑖𝑒𝑛𝑐𝑒_𝑖^2+𝑆𝑒𝑥_𝑖+𝑅𝑎𝑐𝑒_𝑖+𝑅𝑒𝑔𝑖𝑜𝑛_𝑖+𝑌𝑒𝑎𝑟×𝐼𝑛𝑑𝑢𝑠𝑡𝑟𝑦+𝜖_𝑖</a:t>
                </a:r>
                <a:endParaRPr lang="en-US" dirty="0"/>
              </a:p>
            </p:txBody>
          </p:sp>
        </mc:Fallback>
      </mc:AlternateContent>
      <p:sp>
        <p:nvSpPr>
          <p:cNvPr id="4" name="Slide Number Placeholder 3"/>
          <p:cNvSpPr>
            <a:spLocks noGrp="1"/>
          </p:cNvSpPr>
          <p:nvPr>
            <p:ph type="sldNum" sz="quarter" idx="5"/>
          </p:nvPr>
        </p:nvSpPr>
        <p:spPr/>
        <p:txBody>
          <a:bodyPr/>
          <a:lstStyle/>
          <a:p>
            <a:fld id="{07CD695F-CDF3-D141-A557-FBFB87985C62}" type="slidenum">
              <a:rPr lang="en-US" smtClean="0"/>
              <a:t>8</a:t>
            </a:fld>
            <a:endParaRPr lang="en-US"/>
          </a:p>
        </p:txBody>
      </p:sp>
    </p:spTree>
    <p:extLst>
      <p:ext uri="{BB962C8B-B14F-4D97-AF65-F5344CB8AC3E}">
        <p14:creationId xmlns:p14="http://schemas.microsoft.com/office/powerpoint/2010/main" val="3197314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7" r:id="rId4"/>
    <p:sldLayoutId id="2147483670" r:id="rId5"/>
    <p:sldLayoutId id="2147483671" r:id="rId6"/>
    <p:sldLayoutId id="2147483672" r:id="rId7"/>
    <p:sldLayoutId id="2147483675" r:id="rId8"/>
    <p:sldLayoutId id="2147483677" r:id="rId9"/>
    <p:sldLayoutId id="2147483678" r:id="rId10"/>
    <p:sldLayoutId id="2147483680" r:id="rId11"/>
    <p:sldLayoutId id="2147483681" r:id="rId12"/>
    <p:sldLayoutId id="2147483683" r:id="rId13"/>
    <p:sldLayoutId id="2147483685" r:id="rId14"/>
    <p:sldLayoutId id="2147483686" r:id="rId15"/>
    <p:sldLayoutId id="2147483689" r:id="rId16"/>
    <p:sldLayoutId id="2147483693" r:id="rId17"/>
    <p:sldLayoutId id="2147483695" r:id="rId18"/>
    <p:sldLayoutId id="2147483697" r:id="rId19"/>
    <p:sldLayoutId id="2147483701" r:id="rId20"/>
    <p:sldLayoutId id="2147483706" r:id="rId21"/>
    <p:sldLayoutId id="2147483709" r:id="rId22"/>
    <p:sldLayoutId id="2147483710" r:id="rId23"/>
    <p:sldLayoutId id="2147483711" r:id="rId24"/>
    <p:sldLayoutId id="2147483712" r:id="rId25"/>
    <p:sldLayoutId id="2147483715" r:id="rId26"/>
    <p:sldLayoutId id="2147483716"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rawpixel.com/image/413191/free-photo-image-presentation-meeting-african-american"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mailto:ch128@wellesley.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A0D7-315D-CF05-698B-26BAFD4FE710}"/>
              </a:ext>
            </a:extLst>
          </p:cNvPr>
          <p:cNvSpPr>
            <a:spLocks noGrp="1"/>
          </p:cNvSpPr>
          <p:nvPr>
            <p:ph type="ctrTitle"/>
          </p:nvPr>
        </p:nvSpPr>
        <p:spPr>
          <a:xfrm>
            <a:off x="56642" y="97104"/>
            <a:ext cx="4441786" cy="3331896"/>
          </a:xfrm>
        </p:spPr>
        <p:txBody>
          <a:bodyPr>
            <a:normAutofit fontScale="90000"/>
          </a:bodyPr>
          <a:lstStyle/>
          <a:p>
            <a:r>
              <a:rPr lang="en-US" dirty="0">
                <a:latin typeface="Garamond" panose="02020404030301010803" pitchFamily="18" charset="0"/>
              </a:rPr>
              <a:t>Employment Quality and Political Attitudes. New Evidence for Canonical Questions</a:t>
            </a:r>
          </a:p>
        </p:txBody>
      </p:sp>
      <p:sp>
        <p:nvSpPr>
          <p:cNvPr id="3" name="Subtitle 2">
            <a:extLst>
              <a:ext uri="{FF2B5EF4-FFF2-40B4-BE49-F238E27FC236}">
                <a16:creationId xmlns:a16="http://schemas.microsoft.com/office/drawing/2014/main" id="{4130B680-AECC-C3B2-21D8-794B4CE18507}"/>
              </a:ext>
            </a:extLst>
          </p:cNvPr>
          <p:cNvSpPr>
            <a:spLocks noGrp="1"/>
          </p:cNvSpPr>
          <p:nvPr>
            <p:ph type="subTitle" idx="1"/>
          </p:nvPr>
        </p:nvSpPr>
        <p:spPr/>
        <p:txBody>
          <a:bodyPr/>
          <a:lstStyle/>
          <a:p>
            <a:r>
              <a:rPr lang="en-US" dirty="0">
                <a:latin typeface="Garamond" panose="02020404030301010803" pitchFamily="18" charset="0"/>
              </a:rPr>
              <a:t>Christian Hosam</a:t>
            </a:r>
          </a:p>
          <a:p>
            <a:r>
              <a:rPr lang="en-US" dirty="0">
                <a:latin typeface="Garamond" panose="02020404030301010803" pitchFamily="18" charset="0"/>
              </a:rPr>
              <a:t>Assistant Professor</a:t>
            </a:r>
          </a:p>
          <a:p>
            <a:r>
              <a:rPr lang="en-US" dirty="0">
                <a:latin typeface="Garamond" panose="02020404030301010803" pitchFamily="18" charset="0"/>
              </a:rPr>
              <a:t>Wellesley College</a:t>
            </a:r>
          </a:p>
        </p:txBody>
      </p:sp>
      <p:pic>
        <p:nvPicPr>
          <p:cNvPr id="8" name="Picture Placeholder 7">
            <a:extLst>
              <a:ext uri="{FF2B5EF4-FFF2-40B4-BE49-F238E27FC236}">
                <a16:creationId xmlns:a16="http://schemas.microsoft.com/office/drawing/2014/main" id="{89E4577A-16AE-0CAD-5195-49F271CB3C8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236" r="12236"/>
          <a:stretch>
            <a:fillRect/>
          </a:stretch>
        </p:blipFill>
        <p:spPr/>
      </p:pic>
    </p:spTree>
    <p:extLst>
      <p:ext uri="{BB962C8B-B14F-4D97-AF65-F5344CB8AC3E}">
        <p14:creationId xmlns:p14="http://schemas.microsoft.com/office/powerpoint/2010/main" val="2244652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6A48-8C29-F67A-AC14-63505262B17E}"/>
              </a:ext>
            </a:extLst>
          </p:cNvPr>
          <p:cNvSpPr>
            <a:spLocks noGrp="1"/>
          </p:cNvSpPr>
          <p:nvPr>
            <p:ph type="title"/>
          </p:nvPr>
        </p:nvSpPr>
        <p:spPr/>
        <p:txBody>
          <a:bodyPr/>
          <a:lstStyle/>
          <a:p>
            <a:r>
              <a:rPr lang="en-US" dirty="0"/>
              <a:t>What is a Good Job? And Why Does it Matter for Political Attitudes?</a:t>
            </a:r>
          </a:p>
        </p:txBody>
      </p:sp>
      <p:pic>
        <p:nvPicPr>
          <p:cNvPr id="5" name="Content Placeholder 4">
            <a:extLst>
              <a:ext uri="{FF2B5EF4-FFF2-40B4-BE49-F238E27FC236}">
                <a16:creationId xmlns:a16="http://schemas.microsoft.com/office/drawing/2014/main" id="{23B69A02-34BC-9583-7123-5B1826BB37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9149" y="1573103"/>
            <a:ext cx="7804182" cy="4513262"/>
          </a:xfrm>
          <a:prstGeom prst="rect">
            <a:avLst/>
          </a:prstGeom>
        </p:spPr>
      </p:pic>
    </p:spTree>
    <p:extLst>
      <p:ext uri="{BB962C8B-B14F-4D97-AF65-F5344CB8AC3E}">
        <p14:creationId xmlns:p14="http://schemas.microsoft.com/office/powerpoint/2010/main" val="135449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8134D1-E322-E666-0F6C-D29289C91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7868" y="0"/>
            <a:ext cx="7536264" cy="6763870"/>
          </a:xfrm>
          <a:prstGeom prst="rect">
            <a:avLst/>
          </a:prstGeom>
        </p:spPr>
      </p:pic>
    </p:spTree>
    <p:extLst>
      <p:ext uri="{BB962C8B-B14F-4D97-AF65-F5344CB8AC3E}">
        <p14:creationId xmlns:p14="http://schemas.microsoft.com/office/powerpoint/2010/main" val="406705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B3B603-2310-40B5-7AA5-F89916760C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576" y="251289"/>
            <a:ext cx="8928847" cy="6355421"/>
          </a:xfrm>
          <a:prstGeom prst="rect">
            <a:avLst/>
          </a:prstGeom>
        </p:spPr>
      </p:pic>
    </p:spTree>
    <p:extLst>
      <p:ext uri="{BB962C8B-B14F-4D97-AF65-F5344CB8AC3E}">
        <p14:creationId xmlns:p14="http://schemas.microsoft.com/office/powerpoint/2010/main" val="3715715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4CE20C-2984-6A4E-CF6B-50106AE66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206" y="107875"/>
            <a:ext cx="9883588" cy="6642249"/>
          </a:xfrm>
          <a:prstGeom prst="rect">
            <a:avLst/>
          </a:prstGeom>
        </p:spPr>
      </p:pic>
    </p:spTree>
    <p:extLst>
      <p:ext uri="{BB962C8B-B14F-4D97-AF65-F5344CB8AC3E}">
        <p14:creationId xmlns:p14="http://schemas.microsoft.com/office/powerpoint/2010/main" val="15115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470FF51-5A11-C661-43C5-A08BC85965C8}"/>
              </a:ext>
            </a:extLst>
          </p:cNvPr>
          <p:cNvSpPr>
            <a:spLocks noGrp="1"/>
          </p:cNvSpPr>
          <p:nvPr>
            <p:ph sz="quarter" idx="13"/>
          </p:nvPr>
        </p:nvSpPr>
        <p:spPr/>
        <p:txBody>
          <a:bodyPr>
            <a:normAutofit fontScale="92500" lnSpcReduction="10000"/>
          </a:bodyPr>
          <a:lstStyle/>
          <a:p>
            <a:r>
              <a:rPr lang="en-US" b="1" dirty="0">
                <a:latin typeface="Garamond" panose="02020404030301010803" pitchFamily="18" charset="0"/>
              </a:rPr>
              <a:t> The decline of worker power expands the set of reasons that workers will feel unhappy and with it, the reasons to think of work as shaping political meaning</a:t>
            </a:r>
          </a:p>
        </p:txBody>
      </p:sp>
    </p:spTree>
    <p:extLst>
      <p:ext uri="{BB962C8B-B14F-4D97-AF65-F5344CB8AC3E}">
        <p14:creationId xmlns:p14="http://schemas.microsoft.com/office/powerpoint/2010/main" val="2503697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F7BF7-BE71-249C-AE19-DDEB4543A1D2}"/>
              </a:ext>
            </a:extLst>
          </p:cNvPr>
          <p:cNvSpPr>
            <a:spLocks noGrp="1"/>
          </p:cNvSpPr>
          <p:nvPr>
            <p:ph idx="1"/>
          </p:nvPr>
        </p:nvSpPr>
        <p:spPr>
          <a:xfrm>
            <a:off x="614172" y="826993"/>
            <a:ext cx="10963656" cy="4513752"/>
          </a:xfrm>
        </p:spPr>
        <p:txBody>
          <a:bodyPr>
            <a:noAutofit/>
          </a:bodyPr>
          <a:lstStyle/>
          <a:p>
            <a:r>
              <a:rPr lang="en-US" sz="1800" dirty="0">
                <a:latin typeface="Garamond" panose="02020404030301010803" pitchFamily="18" charset="0"/>
              </a:rPr>
              <a:t>Existing literature on the link between employment and political behavior tends to focus principally on exploiting the variation between the two parties as a pathway to understand how having a job shapes vote share and/or partisan attachment (Grafstein 2005; Wright 2012)</a:t>
            </a:r>
          </a:p>
          <a:p>
            <a:r>
              <a:rPr lang="en-US" sz="1800" dirty="0">
                <a:latin typeface="Garamond" panose="02020404030301010803" pitchFamily="18" charset="0"/>
              </a:rPr>
              <a:t>Recent work in Economics has looked at different ways of disaggregating parts of a job to understand its benefits for workers but most of that work is focused on understanding how to integrate objective factors that might accentuate the importance of income with subjective factors that help give workers a sense of meaning (Nikolova and Cnossen 2020; Mira 2021). Because of collinearity concerns, this becomes less tractable for understanding political behavior </a:t>
            </a:r>
          </a:p>
          <a:p>
            <a:r>
              <a:rPr lang="en-US" sz="1800" dirty="0">
                <a:latin typeface="Garamond" panose="02020404030301010803" pitchFamily="18" charset="0"/>
              </a:rPr>
              <a:t>Closer to home, Kathleen Thelen’s assertion that unemployment as a metric of macroeconomic health makes less sense in the context of higher rates of contingent labor identifies a need to more fluidly understand the ways that people’s work shapes their political attitude</a:t>
            </a:r>
          </a:p>
          <a:p>
            <a:r>
              <a:rPr lang="en-US" sz="1800" dirty="0">
                <a:latin typeface="Garamond" panose="02020404030301010803" pitchFamily="18" charset="0"/>
              </a:rPr>
              <a:t>My idea is that by separating the component parts of a job, we can more holistically understand the ways that different parts of work matter in different ways for different people </a:t>
            </a:r>
          </a:p>
        </p:txBody>
      </p:sp>
    </p:spTree>
    <p:extLst>
      <p:ext uri="{BB962C8B-B14F-4D97-AF65-F5344CB8AC3E}">
        <p14:creationId xmlns:p14="http://schemas.microsoft.com/office/powerpoint/2010/main" val="3348294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38BF-01E4-632F-B3C8-39BA3F5B228F}"/>
              </a:ext>
            </a:extLst>
          </p:cNvPr>
          <p:cNvSpPr>
            <a:spLocks noGrp="1"/>
          </p:cNvSpPr>
          <p:nvPr>
            <p:ph type="title"/>
          </p:nvPr>
        </p:nvSpPr>
        <p:spPr>
          <a:xfrm>
            <a:off x="612646" y="222840"/>
            <a:ext cx="10963655" cy="972373"/>
          </a:xfrm>
        </p:spPr>
        <p:txBody>
          <a:bodyPr/>
          <a:lstStyle/>
          <a:p>
            <a:r>
              <a:rPr lang="en-US" dirty="0">
                <a:latin typeface="Garamond" panose="02020404030301010803" pitchFamily="18" charset="0"/>
              </a:rPr>
              <a:t>Data - Compensation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4DDDDB-C15B-3F6F-B657-0E84E83E42D9}"/>
                  </a:ext>
                </a:extLst>
              </p:cNvPr>
              <p:cNvSpPr>
                <a:spLocks noGrp="1"/>
              </p:cNvSpPr>
              <p:nvPr>
                <p:ph idx="1"/>
              </p:nvPr>
            </p:nvSpPr>
            <p:spPr>
              <a:xfrm>
                <a:off x="304798" y="1487022"/>
                <a:ext cx="11579353" cy="5148138"/>
              </a:xfrm>
            </p:spPr>
            <p:txBody>
              <a:bodyPr>
                <a:normAutofit/>
              </a:bodyPr>
              <a:lstStyle/>
              <a:p>
                <a:r>
                  <a:rPr lang="en-US" sz="1900" dirty="0">
                    <a:latin typeface="Garamond" panose="02020404030301010803" pitchFamily="18" charset="0"/>
                  </a:rPr>
                  <a:t>In order to understand something beyond just having a job into something more comprehensive, I link three measures from existing observational data and then match them to each respondent in the General Social Survey:</a:t>
                </a:r>
              </a:p>
              <a:p>
                <a:pPr lvl="1"/>
                <a:r>
                  <a:rPr lang="en-US" sz="1900" dirty="0">
                    <a:latin typeface="Garamond" panose="02020404030301010803" pitchFamily="18" charset="0"/>
                  </a:rPr>
                  <a:t>Compensation: While I do have income (more on that later), I assign compensation based on the Current Population Survey Annual Social and Economic Supplement. I draw here from Enrico Moretti and Gordon Hanson’s measure of defining a good job which for them is the premium relative to what we would expect given the characteristics of the workers employed in it? </a:t>
                </a:r>
                <a:endParaRPr lang="en-US" sz="1900" i="1" dirty="0">
                  <a:latin typeface="Garamond" panose="02020404030301010803" pitchFamily="18" charset="0"/>
                </a:endParaRPr>
              </a:p>
              <a:p>
                <a:pPr lvl="1"/>
                <a:r>
                  <a:rPr lang="en-US" sz="1900" dirty="0">
                    <a:latin typeface="Garamond" panose="02020404030301010803" pitchFamily="18" charset="0"/>
                  </a:rPr>
                  <a:t>Then I include the BLS Employer Costs for Employee Compensation (ECEC), which captures what employers spend on wages and salaries for workers in the industry</a:t>
                </a:r>
              </a:p>
              <a:p>
                <a:pPr lvl="1"/>
                <a:r>
                  <a:rPr lang="en-US" sz="1900" dirty="0">
                    <a:latin typeface="Garamond" panose="02020404030301010803" pitchFamily="18" charset="0"/>
                  </a:rPr>
                  <a:t>I then standardize the measures and divide them by two. Together, this captures both relative wage advantage and the level of hourly wage expenditure associated with that industry. </a:t>
                </a:r>
              </a:p>
              <a:p>
                <a:pPr lvl="1"/>
                <a:endParaRPr lang="en-US" sz="1900" dirty="0">
                  <a:latin typeface="Garamond" panose="02020404030301010803" pitchFamily="18" charset="0"/>
                </a:endParaRPr>
              </a:p>
              <a:p>
                <a:pPr marL="228600" lvl="1" indent="0" algn="ctr">
                  <a:buNone/>
                </a:pPr>
                <a:r>
                  <a:rPr lang="en-US" sz="2400" dirty="0" err="1">
                    <a:latin typeface="Garamond" panose="02020404030301010803" pitchFamily="18" charset="0"/>
                  </a:rPr>
                  <a:t>Compensation</a:t>
                </a:r>
                <a:r>
                  <a:rPr lang="en-US" sz="2400" baseline="-25000" dirty="0" err="1">
                    <a:latin typeface="Garamond" panose="02020404030301010803" pitchFamily="18" charset="0"/>
                  </a:rPr>
                  <a:t>jt</a:t>
                </a:r>
                <a:r>
                  <a:rPr lang="en-US" sz="2400" dirty="0">
                    <a:latin typeface="Garamond" panose="02020404030301010803" pitchFamily="18" charset="0"/>
                  </a:rPr>
                  <a:t> </a:t>
                </a:r>
                <a14:m>
                  <m:oMath xmlns:m="http://schemas.openxmlformats.org/officeDocument/2006/math">
                    <m:r>
                      <a:rPr lang="en-US" sz="2400" i="0" dirty="0" smtClean="0">
                        <a:latin typeface="Cambria Math" panose="02040503050406030204" pitchFamily="18" charset="0"/>
                      </a:rPr>
                      <m:t>=</m:t>
                    </m:r>
                    <m:f>
                      <m:fPr>
                        <m:ctrlPr>
                          <a:rPr lang="en-US" sz="2400" i="1" dirty="0" smtClean="0">
                            <a:latin typeface="Cambria Math" panose="02040503050406030204" pitchFamily="18" charset="0"/>
                          </a:rPr>
                        </m:ctrlPr>
                      </m:fPr>
                      <m:num>
                        <m:r>
                          <a:rPr lang="en-US" sz="2400" i="1" dirty="0" smtClean="0">
                            <a:latin typeface="Cambria Math" panose="02040503050406030204" pitchFamily="18" charset="0"/>
                          </a:rPr>
                          <m:t>𝑍</m:t>
                        </m:r>
                        <m:d>
                          <m:dPr>
                            <m:ctrlPr>
                              <a:rPr lang="en-US" sz="2400" i="1" dirty="0" smtClean="0">
                                <a:latin typeface="Cambria Math" panose="02040503050406030204" pitchFamily="18" charset="0"/>
                                <a:cs typeface="Al Nile" pitchFamily="2" charset="-78"/>
                              </a:rPr>
                            </m:ctrlPr>
                          </m:dPr>
                          <m:e>
                            <m:r>
                              <m:rPr>
                                <m:nor/>
                              </m:rPr>
                              <a:rPr lang="en-US" sz="2400" i="0" dirty="0" smtClean="0">
                                <a:latin typeface="Garamond" panose="02020404030301010803" pitchFamily="18" charset="0"/>
                                <a:cs typeface="Al Nile" pitchFamily="2" charset="-78"/>
                              </a:rPr>
                              <m:t>CPS</m:t>
                            </m:r>
                            <m:r>
                              <m:rPr>
                                <m:nor/>
                              </m:rPr>
                              <a:rPr lang="en-US" sz="2400" i="0" dirty="0" smtClean="0">
                                <a:latin typeface="Garamond" panose="02020404030301010803" pitchFamily="18" charset="0"/>
                                <a:cs typeface="Al Nile" pitchFamily="2" charset="-78"/>
                              </a:rPr>
                              <m:t> </m:t>
                            </m:r>
                            <m:r>
                              <m:rPr>
                                <m:nor/>
                              </m:rPr>
                              <a:rPr lang="en-US" sz="2400" i="0" dirty="0" smtClean="0">
                                <a:latin typeface="Garamond" panose="02020404030301010803" pitchFamily="18" charset="0"/>
                                <a:cs typeface="Al Nile" pitchFamily="2" charset="-78"/>
                              </a:rPr>
                              <m:t>wage</m:t>
                            </m:r>
                            <m:r>
                              <m:rPr>
                                <m:nor/>
                              </m:rPr>
                              <a:rPr lang="en-US" sz="2400" i="0" dirty="0" smtClean="0">
                                <a:latin typeface="Garamond" panose="02020404030301010803" pitchFamily="18" charset="0"/>
                                <a:cs typeface="Al Nile" pitchFamily="2" charset="-78"/>
                              </a:rPr>
                              <m:t> </m:t>
                            </m:r>
                            <m:r>
                              <m:rPr>
                                <m:nor/>
                              </m:rPr>
                              <a:rPr lang="en-US" sz="2400" i="0" dirty="0" smtClean="0">
                                <a:latin typeface="Garamond" panose="02020404030301010803" pitchFamily="18" charset="0"/>
                                <a:cs typeface="Al Nile" pitchFamily="2" charset="-78"/>
                              </a:rPr>
                              <m:t>premium</m:t>
                            </m:r>
                          </m:e>
                        </m:d>
                        <m:r>
                          <a:rPr lang="en-US" sz="2400" i="0" dirty="0" smtClean="0">
                            <a:latin typeface="Cambria Math" panose="02040503050406030204" pitchFamily="18" charset="0"/>
                          </a:rPr>
                          <m:t>+</m:t>
                        </m:r>
                        <m:r>
                          <a:rPr lang="en-US" sz="2400" i="1" dirty="0" smtClean="0">
                            <a:latin typeface="Cambria Math" panose="02040503050406030204" pitchFamily="18" charset="0"/>
                          </a:rPr>
                          <m:t>𝑍</m:t>
                        </m:r>
                        <m:d>
                          <m:dPr>
                            <m:ctrlPr>
                              <a:rPr lang="en-US" sz="2400" i="1" dirty="0" smtClean="0">
                                <a:latin typeface="Cambria Math" panose="02040503050406030204" pitchFamily="18" charset="0"/>
                                <a:cs typeface="Al Nile" pitchFamily="2" charset="-78"/>
                              </a:rPr>
                            </m:ctrlPr>
                          </m:dPr>
                          <m:e>
                            <m:r>
                              <m:rPr>
                                <m:nor/>
                              </m:rPr>
                              <a:rPr lang="en-US" sz="2400" i="0" dirty="0" smtClean="0">
                                <a:latin typeface="Garamond" panose="02020404030301010803" pitchFamily="18" charset="0"/>
                                <a:cs typeface="Al Nile" pitchFamily="2" charset="-78"/>
                              </a:rPr>
                              <m:t>ECEC</m:t>
                            </m:r>
                            <m:r>
                              <m:rPr>
                                <m:nor/>
                              </m:rPr>
                              <a:rPr lang="en-US" sz="2400" i="0" dirty="0" smtClean="0">
                                <a:latin typeface="Garamond" panose="02020404030301010803" pitchFamily="18" charset="0"/>
                                <a:cs typeface="Al Nile" pitchFamily="2" charset="-78"/>
                              </a:rPr>
                              <m:t> </m:t>
                            </m:r>
                            <m:r>
                              <m:rPr>
                                <m:nor/>
                              </m:rPr>
                              <a:rPr lang="en-US" sz="2400" i="0" dirty="0" smtClean="0">
                                <a:latin typeface="Garamond" panose="02020404030301010803" pitchFamily="18" charset="0"/>
                                <a:cs typeface="Al Nile" pitchFamily="2" charset="-78"/>
                              </a:rPr>
                              <m:t>wage</m:t>
                            </m:r>
                            <m:r>
                              <m:rPr>
                                <m:nor/>
                              </m:rPr>
                              <a:rPr lang="en-US" sz="2400" i="0" dirty="0" smtClean="0">
                                <a:latin typeface="Garamond" panose="02020404030301010803" pitchFamily="18" charset="0"/>
                                <a:cs typeface="Al Nile" pitchFamily="2" charset="-78"/>
                              </a:rPr>
                              <m:t> </m:t>
                            </m:r>
                            <m:r>
                              <m:rPr>
                                <m:nor/>
                              </m:rPr>
                              <a:rPr lang="en-US" sz="2400" i="0" dirty="0" smtClean="0">
                                <a:latin typeface="Garamond" panose="02020404030301010803" pitchFamily="18" charset="0"/>
                                <a:cs typeface="Al Nile" pitchFamily="2" charset="-78"/>
                              </a:rPr>
                              <m:t>cost</m:t>
                            </m:r>
                            <m:r>
                              <m:rPr>
                                <m:nor/>
                              </m:rPr>
                              <a:rPr lang="en-US" sz="2400" i="0" dirty="0" smtClean="0">
                                <a:latin typeface="Garamond" panose="02020404030301010803" pitchFamily="18" charset="0"/>
                                <a:cs typeface="Al Nile" pitchFamily="2" charset="-78"/>
                              </a:rPr>
                              <m:t>/</m:t>
                            </m:r>
                            <m:r>
                              <m:rPr>
                                <m:nor/>
                              </m:rPr>
                              <a:rPr lang="en-US" sz="2400" i="0" dirty="0" smtClean="0">
                                <a:latin typeface="Garamond" panose="02020404030301010803" pitchFamily="18" charset="0"/>
                                <a:cs typeface="Al Nile" pitchFamily="2" charset="-78"/>
                              </a:rPr>
                              <m:t>hour</m:t>
                            </m:r>
                          </m:e>
                        </m:d>
                      </m:num>
                      <m:den>
                        <m:r>
                          <a:rPr lang="en-US" sz="2400" i="0" dirty="0" smtClean="0">
                            <a:latin typeface="Cambria Math" panose="02040503050406030204" pitchFamily="18" charset="0"/>
                          </a:rPr>
                          <m:t>2</m:t>
                        </m:r>
                      </m:den>
                    </m:f>
                  </m:oMath>
                </a14:m>
                <a:endParaRPr lang="en-US" sz="2400" dirty="0">
                  <a:latin typeface="Garamond" panose="02020404030301010803" pitchFamily="18" charset="0"/>
                  <a:cs typeface="Al Nile" pitchFamily="2" charset="-78"/>
                </a:endParaRPr>
              </a:p>
              <a:p>
                <a:pPr lvl="1"/>
                <a:endParaRPr lang="en-US" sz="1800" dirty="0"/>
              </a:p>
            </p:txBody>
          </p:sp>
        </mc:Choice>
        <mc:Fallback>
          <p:sp>
            <p:nvSpPr>
              <p:cNvPr id="3" name="Content Placeholder 2">
                <a:extLst>
                  <a:ext uri="{FF2B5EF4-FFF2-40B4-BE49-F238E27FC236}">
                    <a16:creationId xmlns:a16="http://schemas.microsoft.com/office/drawing/2014/main" id="{AF4DDDDB-C15B-3F6F-B657-0E84E83E42D9}"/>
                  </a:ext>
                </a:extLst>
              </p:cNvPr>
              <p:cNvSpPr>
                <a:spLocks noGrp="1" noRot="1" noChangeAspect="1" noMove="1" noResize="1" noEditPoints="1" noAdjustHandles="1" noChangeArrowheads="1" noChangeShapeType="1" noTextEdit="1"/>
              </p:cNvSpPr>
              <p:nvPr>
                <p:ph idx="1"/>
              </p:nvPr>
            </p:nvSpPr>
            <p:spPr>
              <a:xfrm>
                <a:off x="304798" y="1487022"/>
                <a:ext cx="11579353" cy="5148138"/>
              </a:xfrm>
              <a:blipFill>
                <a:blip r:embed="rId3"/>
                <a:stretch>
                  <a:fillRect l="-439" r="-987"/>
                </a:stretch>
              </a:blipFill>
            </p:spPr>
            <p:txBody>
              <a:bodyPr/>
              <a:lstStyle/>
              <a:p>
                <a:r>
                  <a:rPr lang="en-US">
                    <a:noFill/>
                  </a:rPr>
                  <a:t> </a:t>
                </a:r>
              </a:p>
            </p:txBody>
          </p:sp>
        </mc:Fallback>
      </mc:AlternateContent>
    </p:spTree>
    <p:extLst>
      <p:ext uri="{BB962C8B-B14F-4D97-AF65-F5344CB8AC3E}">
        <p14:creationId xmlns:p14="http://schemas.microsoft.com/office/powerpoint/2010/main" val="407504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FAA8-153A-1D68-7BAA-348AC803C673}"/>
              </a:ext>
            </a:extLst>
          </p:cNvPr>
          <p:cNvSpPr>
            <a:spLocks noGrp="1"/>
          </p:cNvSpPr>
          <p:nvPr>
            <p:ph type="title"/>
          </p:nvPr>
        </p:nvSpPr>
        <p:spPr/>
        <p:txBody>
          <a:bodyPr/>
          <a:lstStyle/>
          <a:p>
            <a:r>
              <a:rPr lang="en-US" dirty="0">
                <a:latin typeface="Garamond" panose="02020404030301010803" pitchFamily="18" charset="0"/>
              </a:rPr>
              <a:t>Data – Benefits </a:t>
            </a:r>
          </a:p>
        </p:txBody>
      </p:sp>
      <p:sp>
        <p:nvSpPr>
          <p:cNvPr id="3" name="Content Placeholder 2">
            <a:extLst>
              <a:ext uri="{FF2B5EF4-FFF2-40B4-BE49-F238E27FC236}">
                <a16:creationId xmlns:a16="http://schemas.microsoft.com/office/drawing/2014/main" id="{7007DB55-44C0-FD57-DDB2-8658EB9FC7B0}"/>
              </a:ext>
            </a:extLst>
          </p:cNvPr>
          <p:cNvSpPr>
            <a:spLocks noGrp="1"/>
          </p:cNvSpPr>
          <p:nvPr>
            <p:ph idx="1"/>
          </p:nvPr>
        </p:nvSpPr>
        <p:spPr/>
        <p:txBody>
          <a:bodyPr>
            <a:normAutofit/>
          </a:bodyPr>
          <a:lstStyle/>
          <a:p>
            <a:pPr marL="0" indent="0">
              <a:buNone/>
            </a:pPr>
            <a:r>
              <a:rPr lang="en-US" sz="2000" dirty="0">
                <a:latin typeface="Garamond" panose="02020404030301010803" pitchFamily="18" charset="0"/>
              </a:rPr>
              <a:t>Separately, also from the ECEC, I construct the employer cost per hour for paid leave, insurance, and retirement costs (I choose not to include the benefits that they are legally mandated to pay at the same level so as to not artificially inflate the measure) </a:t>
            </a:r>
          </a:p>
          <a:p>
            <a:pPr marL="0" indent="0">
              <a:buNone/>
            </a:pPr>
            <a:endParaRPr lang="en-US" sz="2000" dirty="0">
              <a:latin typeface="Garamond" panose="02020404030301010803" pitchFamily="18" charset="0"/>
            </a:endParaRPr>
          </a:p>
          <a:p>
            <a:pPr marL="0" indent="0" algn="ctr">
              <a:buNone/>
            </a:pPr>
            <a:r>
              <a:rPr lang="en-US" sz="2800" i="1" dirty="0">
                <a:latin typeface="Garamond" panose="02020404030301010803" pitchFamily="18" charset="0"/>
              </a:rPr>
              <a:t>Benefits</a:t>
            </a:r>
            <a:r>
              <a:rPr lang="en-US" sz="2800" i="1" baseline="-25000" dirty="0">
                <a:latin typeface="Garamond" panose="02020404030301010803" pitchFamily="18" charset="0"/>
              </a:rPr>
              <a:t>jt </a:t>
            </a:r>
            <a:r>
              <a:rPr lang="en-US" sz="2800" i="1" dirty="0">
                <a:latin typeface="Garamond" panose="02020404030301010803" pitchFamily="18" charset="0"/>
              </a:rPr>
              <a:t>=  Z(PaidLeave</a:t>
            </a:r>
            <a:r>
              <a:rPr lang="en-US" sz="2800" i="1" baseline="-25000" dirty="0">
                <a:latin typeface="Garamond" panose="02020404030301010803" pitchFamily="18" charset="0"/>
              </a:rPr>
              <a:t>jt</a:t>
            </a:r>
            <a:r>
              <a:rPr lang="en-US" sz="2800" i="1" dirty="0">
                <a:latin typeface="Garamond" panose="02020404030301010803" pitchFamily="18" charset="0"/>
              </a:rPr>
              <a:t>+ Insurance</a:t>
            </a:r>
            <a:r>
              <a:rPr lang="en-US" sz="2800" i="1" baseline="-25000" dirty="0">
                <a:latin typeface="Garamond" panose="02020404030301010803" pitchFamily="18" charset="0"/>
              </a:rPr>
              <a:t>jt</a:t>
            </a:r>
            <a:r>
              <a:rPr lang="en-US" sz="2800" i="1" dirty="0">
                <a:latin typeface="Garamond" panose="02020404030301010803" pitchFamily="18" charset="0"/>
              </a:rPr>
              <a:t> + Retirement</a:t>
            </a:r>
            <a:r>
              <a:rPr lang="en-US" sz="2800" i="1" baseline="-25000" dirty="0">
                <a:latin typeface="Garamond" panose="02020404030301010803" pitchFamily="18" charset="0"/>
              </a:rPr>
              <a:t>jt</a:t>
            </a:r>
            <a:r>
              <a:rPr lang="en-US" sz="2800" i="1" dirty="0">
                <a:latin typeface="Garamond" panose="02020404030301010803" pitchFamily="18" charset="0"/>
              </a:rPr>
              <a:t>)</a:t>
            </a:r>
          </a:p>
          <a:p>
            <a:pPr marL="0" indent="0">
              <a:buNone/>
            </a:pPr>
            <a:endParaRPr lang="en-US" sz="2000" i="1" dirty="0">
              <a:latin typeface="Garamond" panose="02020404030301010803" pitchFamily="18" charset="0"/>
            </a:endParaRPr>
          </a:p>
          <a:p>
            <a:pPr marL="0" indent="0">
              <a:buNone/>
            </a:pPr>
            <a:endParaRPr lang="en-US" sz="2000" i="1" dirty="0">
              <a:latin typeface="Cambria Math" panose="02040503050406030204" pitchFamily="18" charset="0"/>
            </a:endParaRPr>
          </a:p>
        </p:txBody>
      </p:sp>
    </p:spTree>
    <p:extLst>
      <p:ext uri="{BB962C8B-B14F-4D97-AF65-F5344CB8AC3E}">
        <p14:creationId xmlns:p14="http://schemas.microsoft.com/office/powerpoint/2010/main" val="2807905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9CD2-88BA-654E-73FB-15AF49CEBF58}"/>
              </a:ext>
            </a:extLst>
          </p:cNvPr>
          <p:cNvSpPr>
            <a:spLocks noGrp="1"/>
          </p:cNvSpPr>
          <p:nvPr>
            <p:ph type="title"/>
          </p:nvPr>
        </p:nvSpPr>
        <p:spPr/>
        <p:txBody>
          <a:bodyPr/>
          <a:lstStyle/>
          <a:p>
            <a:r>
              <a:rPr lang="en-US" dirty="0">
                <a:latin typeface="Garamond" panose="02020404030301010803" pitchFamily="18" charset="0"/>
              </a:rPr>
              <a:t>Data – Earnings Stability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677FDC-CB6E-4B58-BBD7-2FCFF7829102}"/>
                  </a:ext>
                </a:extLst>
              </p:cNvPr>
              <p:cNvSpPr>
                <a:spLocks noGrp="1"/>
              </p:cNvSpPr>
              <p:nvPr>
                <p:ph idx="1"/>
              </p:nvPr>
            </p:nvSpPr>
            <p:spPr/>
            <p:txBody>
              <a:bodyPr>
                <a:normAutofit/>
              </a:bodyPr>
              <a:lstStyle/>
              <a:p>
                <a:r>
                  <a:rPr lang="en-US" sz="2000" dirty="0">
                    <a:latin typeface="Garamond" panose="02020404030301010803" pitchFamily="18" charset="0"/>
                  </a:rPr>
                  <a:t>Finally, I construct a measure of earnings volatility from the Census Quarterly Workforce Indicators  To do this, I:</a:t>
                </a:r>
              </a:p>
              <a:p>
                <a:pPr lvl="0"/>
                <a:r>
                  <a:rPr lang="en-US" sz="2000" dirty="0">
                    <a:latin typeface="Garamond" panose="02020404030301010803" pitchFamily="18" charset="0"/>
                  </a:rPr>
                  <a:t>Take quarterly earnings.</a:t>
                </a:r>
              </a:p>
              <a:p>
                <a:pPr lvl="0"/>
                <a:r>
                  <a:rPr lang="en-US" sz="2000" dirty="0">
                    <a:latin typeface="Garamond" panose="02020404030301010803" pitchFamily="18" charset="0"/>
                  </a:rPr>
                  <a:t>Calculate consecutive-quarter changes in log earnings.</a:t>
                </a:r>
              </a:p>
              <a:p>
                <a:pPr lvl="0"/>
                <a:r>
                  <a:rPr lang="en-US" sz="2000" dirty="0">
                    <a:latin typeface="Garamond" panose="02020404030301010803" pitchFamily="18" charset="0"/>
                  </a:rPr>
                  <a:t>Calculate a rolling four-quarter standard deviation.</a:t>
                </a:r>
              </a:p>
              <a:p>
                <a:pPr lvl="0"/>
                <a:r>
                  <a:rPr lang="en-US" sz="2000" dirty="0">
                    <a:latin typeface="Garamond" panose="02020404030301010803" pitchFamily="18" charset="0"/>
                  </a:rPr>
                  <a:t>Average those volatility measures to the annual industry level.</a:t>
                </a:r>
              </a:p>
              <a:p>
                <a:pPr lvl="0"/>
                <a:r>
                  <a:rPr lang="en-US" sz="2000" dirty="0">
                    <a:latin typeface="Garamond" panose="02020404030301010803" pitchFamily="18" charset="0"/>
                  </a:rPr>
                  <a:t>Reverse the sign so that </a:t>
                </a:r>
                <a:r>
                  <a:rPr lang="en-US" sz="2000" i="1" dirty="0">
                    <a:latin typeface="Garamond" panose="02020404030301010803" pitchFamily="18" charset="0"/>
                  </a:rPr>
                  <a:t>higher values mean greater earnings stability.</a:t>
                </a:r>
              </a:p>
              <a:p>
                <a:pPr marL="0" lvl="0" indent="0" algn="ctr">
                  <a:buNone/>
                </a:pPr>
                <a:endParaRPr lang="en-US" sz="2000" i="1" dirty="0">
                  <a:latin typeface="Garamond" panose="02020404030301010803" pitchFamily="18" charset="0"/>
                </a:endParaRPr>
              </a:p>
              <a:p>
                <a:pPr marL="0" lvl="0" indent="0" algn="ctr">
                  <a:buNone/>
                </a:pPr>
                <a:r>
                  <a:rPr lang="en-US" sz="2800" i="1" dirty="0" err="1">
                    <a:latin typeface="Garamond" panose="02020404030301010803" pitchFamily="18" charset="0"/>
                  </a:rPr>
                  <a:t>EarningsStability</a:t>
                </a:r>
                <a:r>
                  <a:rPr lang="en-US" sz="2800" i="1" baseline="-25000" dirty="0" err="1">
                    <a:latin typeface="Garamond" panose="02020404030301010803" pitchFamily="18" charset="0"/>
                  </a:rPr>
                  <a:t>jt</a:t>
                </a:r>
                <a:r>
                  <a:rPr lang="en-US" sz="2800" i="1" baseline="-25000" dirty="0">
                    <a:latin typeface="Garamond" panose="02020404030301010803" pitchFamily="18" charset="0"/>
                  </a:rPr>
                  <a:t> </a:t>
                </a:r>
                <a:r>
                  <a:rPr lang="en-US" sz="2800" i="1" dirty="0">
                    <a:latin typeface="Garamond" panose="02020404030301010803" pitchFamily="18" charset="0"/>
                  </a:rPr>
                  <a:t>= -Z[SD(</a:t>
                </a:r>
                <a14:m>
                  <m:oMath xmlns:m="http://schemas.openxmlformats.org/officeDocument/2006/math">
                    <m:r>
                      <m:rPr>
                        <m:sty m:val="p"/>
                      </m:rPr>
                      <a:rPr lang="en-US" sz="2800" i="0" dirty="0" smtClean="0">
                        <a:latin typeface="Cambria Math" panose="02040503050406030204" pitchFamily="18" charset="0"/>
                      </a:rPr>
                      <m:t>Δ</m:t>
                    </m:r>
                  </m:oMath>
                </a14:m>
                <a:r>
                  <a:rPr lang="en-US" sz="2800" i="1" dirty="0">
                    <a:latin typeface="Garamond" panose="02020404030301010803" pitchFamily="18" charset="0"/>
                  </a:rPr>
                  <a:t>log </a:t>
                </a:r>
                <a:r>
                  <a:rPr lang="en-US" sz="2800" i="1" dirty="0" err="1">
                    <a:latin typeface="Garamond" panose="02020404030301010803" pitchFamily="18" charset="0"/>
                  </a:rPr>
                  <a:t>Earnings</a:t>
                </a:r>
                <a:r>
                  <a:rPr lang="en-US" sz="2800" i="1" baseline="-25000" dirty="0" err="1">
                    <a:latin typeface="Garamond" panose="02020404030301010803" pitchFamily="18" charset="0"/>
                  </a:rPr>
                  <a:t>jt</a:t>
                </a:r>
                <a:r>
                  <a:rPr lang="en-US" sz="2800" i="1" dirty="0">
                    <a:latin typeface="Garamond" panose="02020404030301010803" pitchFamily="18" charset="0"/>
                  </a:rPr>
                  <a:t>)]</a:t>
                </a:r>
              </a:p>
              <a:p>
                <a:pPr lvl="0"/>
                <a:endParaRPr lang="en-US" sz="2000" dirty="0">
                  <a:latin typeface="Garamond" panose="02020404030301010803" pitchFamily="18" charset="0"/>
                </a:endParaRPr>
              </a:p>
              <a:p>
                <a:pPr marL="0" lvl="0" indent="0">
                  <a:buNone/>
                </a:pPr>
                <a:endParaRPr lang="en-US" sz="2000" dirty="0">
                  <a:latin typeface="Garamond" panose="02020404030301010803" pitchFamily="18" charset="0"/>
                </a:endParaRPr>
              </a:p>
              <a:p>
                <a:endParaRPr lang="en-US" dirty="0"/>
              </a:p>
            </p:txBody>
          </p:sp>
        </mc:Choice>
        <mc:Fallback>
          <p:sp>
            <p:nvSpPr>
              <p:cNvPr id="3" name="Content Placeholder 2">
                <a:extLst>
                  <a:ext uri="{FF2B5EF4-FFF2-40B4-BE49-F238E27FC236}">
                    <a16:creationId xmlns:a16="http://schemas.microsoft.com/office/drawing/2014/main" id="{CB677FDC-CB6E-4B58-BBD7-2FCFF7829102}"/>
                  </a:ext>
                </a:extLst>
              </p:cNvPr>
              <p:cNvSpPr>
                <a:spLocks noGrp="1" noRot="1" noChangeAspect="1" noMove="1" noResize="1" noEditPoints="1" noAdjustHandles="1" noChangeArrowheads="1" noChangeShapeType="1" noTextEdit="1"/>
              </p:cNvSpPr>
              <p:nvPr>
                <p:ph idx="1"/>
              </p:nvPr>
            </p:nvSpPr>
            <p:spPr>
              <a:blipFill>
                <a:blip r:embed="rId2"/>
                <a:stretch>
                  <a:fillRect l="-463" b="-1120"/>
                </a:stretch>
              </a:blipFill>
            </p:spPr>
            <p:txBody>
              <a:bodyPr/>
              <a:lstStyle/>
              <a:p>
                <a:r>
                  <a:rPr lang="en-US">
                    <a:noFill/>
                  </a:rPr>
                  <a:t> </a:t>
                </a:r>
              </a:p>
            </p:txBody>
          </p:sp>
        </mc:Fallback>
      </mc:AlternateContent>
    </p:spTree>
    <p:extLst>
      <p:ext uri="{BB962C8B-B14F-4D97-AF65-F5344CB8AC3E}">
        <p14:creationId xmlns:p14="http://schemas.microsoft.com/office/powerpoint/2010/main" val="1277386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D5C9-00F9-E564-9E51-C2142ABE721F}"/>
              </a:ext>
            </a:extLst>
          </p:cNvPr>
          <p:cNvSpPr>
            <a:spLocks noGrp="1"/>
          </p:cNvSpPr>
          <p:nvPr>
            <p:ph type="title"/>
          </p:nvPr>
        </p:nvSpPr>
        <p:spPr/>
        <p:txBody>
          <a:bodyPr/>
          <a:lstStyle/>
          <a:p>
            <a:r>
              <a:rPr lang="en-US" dirty="0">
                <a:latin typeface="Garamond" panose="02020404030301010803" pitchFamily="18" charset="0"/>
              </a:rPr>
              <a:t>JQI</a:t>
            </a:r>
          </a:p>
        </p:txBody>
      </p:sp>
      <p:sp>
        <p:nvSpPr>
          <p:cNvPr id="3" name="Content Placeholder 2">
            <a:extLst>
              <a:ext uri="{FF2B5EF4-FFF2-40B4-BE49-F238E27FC236}">
                <a16:creationId xmlns:a16="http://schemas.microsoft.com/office/drawing/2014/main" id="{C02011BD-EEC4-09E2-1168-3F72FF85D489}"/>
              </a:ext>
            </a:extLst>
          </p:cNvPr>
          <p:cNvSpPr>
            <a:spLocks noGrp="1"/>
          </p:cNvSpPr>
          <p:nvPr>
            <p:ph idx="1"/>
          </p:nvPr>
        </p:nvSpPr>
        <p:spPr>
          <a:xfrm>
            <a:off x="612648" y="1684126"/>
            <a:ext cx="10963656" cy="4513752"/>
          </a:xfrm>
        </p:spPr>
        <p:txBody>
          <a:bodyPr>
            <a:normAutofit/>
          </a:bodyPr>
          <a:lstStyle/>
          <a:p>
            <a:r>
              <a:rPr lang="en-US" sz="2000" dirty="0">
                <a:latin typeface="Garamond" panose="02020404030301010803" pitchFamily="18" charset="0"/>
              </a:rPr>
              <a:t>I standardize these components into what I call a JQI (Job Quality Index)  </a:t>
            </a:r>
          </a:p>
          <a:p>
            <a:r>
              <a:rPr lang="en-US" sz="2000" dirty="0">
                <a:latin typeface="Garamond" panose="02020404030301010803" pitchFamily="18" charset="0"/>
              </a:rPr>
              <a:t>While for the purposes of the presentation I do disaggregate these components, conceptually I’m separating how much a job pays, the relative security it provides, and its earnings predictability for its workers to understand what each component does politically relative to the others. </a:t>
            </a:r>
          </a:p>
          <a:p>
            <a:r>
              <a:rPr lang="en-US" sz="2000" dirty="0">
                <a:latin typeface="Garamond" panose="02020404030301010803" pitchFamily="18" charset="0"/>
              </a:rPr>
              <a:t>Connecting each measure to the General Social Survey (GSS) Cumulative File from 2000-2024 at the industry-year level, I have about 200 different combinations to work with in a survey that has n = 37,563 respondents across waves.</a:t>
            </a:r>
          </a:p>
        </p:txBody>
      </p:sp>
    </p:spTree>
    <p:extLst>
      <p:ext uri="{BB962C8B-B14F-4D97-AF65-F5344CB8AC3E}">
        <p14:creationId xmlns:p14="http://schemas.microsoft.com/office/powerpoint/2010/main" val="2000027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374E8-E173-4B23-E209-23ADEAFB3CEB}"/>
              </a:ext>
            </a:extLst>
          </p:cNvPr>
          <p:cNvSpPr>
            <a:spLocks noGrp="1"/>
          </p:cNvSpPr>
          <p:nvPr>
            <p:ph type="title"/>
          </p:nvPr>
        </p:nvSpPr>
        <p:spPr/>
        <p:txBody>
          <a:bodyPr/>
          <a:lstStyle/>
          <a:p>
            <a:r>
              <a:rPr lang="en-US" dirty="0">
                <a:latin typeface="Garamond" panose="02020404030301010803" pitchFamily="18" charset="0"/>
              </a:rPr>
              <a:t>Research Question</a:t>
            </a:r>
          </a:p>
        </p:txBody>
      </p:sp>
      <p:sp>
        <p:nvSpPr>
          <p:cNvPr id="3" name="Content Placeholder 2">
            <a:extLst>
              <a:ext uri="{FF2B5EF4-FFF2-40B4-BE49-F238E27FC236}">
                <a16:creationId xmlns:a16="http://schemas.microsoft.com/office/drawing/2014/main" id="{EB48A80C-64A7-480C-4B9D-E03343785D47}"/>
              </a:ext>
            </a:extLst>
          </p:cNvPr>
          <p:cNvSpPr>
            <a:spLocks noGrp="1"/>
          </p:cNvSpPr>
          <p:nvPr>
            <p:ph idx="1"/>
          </p:nvPr>
        </p:nvSpPr>
        <p:spPr/>
        <p:txBody>
          <a:bodyPr>
            <a:normAutofit/>
          </a:bodyPr>
          <a:lstStyle/>
          <a:p>
            <a:r>
              <a:rPr lang="en-US" sz="2400" b="1" i="1" dirty="0">
                <a:latin typeface="Garamond" panose="02020404030301010803" pitchFamily="18" charset="0"/>
              </a:rPr>
              <a:t>Does disaggregating the effects of compensation, benefits, and earnings stability highlight different aspects of political attitudes than are captured by work status alone?</a:t>
            </a:r>
          </a:p>
        </p:txBody>
      </p:sp>
    </p:spTree>
    <p:extLst>
      <p:ext uri="{BB962C8B-B14F-4D97-AF65-F5344CB8AC3E}">
        <p14:creationId xmlns:p14="http://schemas.microsoft.com/office/powerpoint/2010/main" val="2492920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52C5-86D8-DFD1-D54D-30167BC1DC2D}"/>
              </a:ext>
            </a:extLst>
          </p:cNvPr>
          <p:cNvSpPr>
            <a:spLocks noGrp="1"/>
          </p:cNvSpPr>
          <p:nvPr>
            <p:ph type="title"/>
          </p:nvPr>
        </p:nvSpPr>
        <p:spPr/>
        <p:txBody>
          <a:bodyPr/>
          <a:lstStyle/>
          <a:p>
            <a:r>
              <a:rPr lang="en-US" dirty="0">
                <a:latin typeface="Garamond" panose="02020404030301010803" pitchFamily="18" charset="0"/>
              </a:rPr>
              <a:t>Outline for the Rest of the Talk</a:t>
            </a:r>
          </a:p>
        </p:txBody>
      </p:sp>
      <p:sp>
        <p:nvSpPr>
          <p:cNvPr id="3" name="Content Placeholder 2">
            <a:extLst>
              <a:ext uri="{FF2B5EF4-FFF2-40B4-BE49-F238E27FC236}">
                <a16:creationId xmlns:a16="http://schemas.microsoft.com/office/drawing/2014/main" id="{6D707A87-7E23-7BC9-CED6-15AE87669B6C}"/>
              </a:ext>
            </a:extLst>
          </p:cNvPr>
          <p:cNvSpPr>
            <a:spLocks noGrp="1"/>
          </p:cNvSpPr>
          <p:nvPr>
            <p:ph idx="1"/>
          </p:nvPr>
        </p:nvSpPr>
        <p:spPr/>
        <p:txBody>
          <a:bodyPr>
            <a:normAutofit/>
          </a:bodyPr>
          <a:lstStyle/>
          <a:p>
            <a:r>
              <a:rPr lang="en-US" sz="2000" dirty="0">
                <a:latin typeface="Garamond" panose="02020404030301010803" pitchFamily="18" charset="0"/>
              </a:rPr>
              <a:t>At the model level, does separating out different forms of employment quality give us more information than employment status and social class alone can’t? </a:t>
            </a:r>
          </a:p>
          <a:p>
            <a:r>
              <a:rPr lang="en-US" sz="2000" dirty="0">
                <a:latin typeface="Garamond" panose="02020404030301010803" pitchFamily="18" charset="0"/>
              </a:rPr>
              <a:t>Do these measures capture things that other dimensions of objective and subjective financial quality don’t?</a:t>
            </a:r>
          </a:p>
          <a:p>
            <a:r>
              <a:rPr lang="en-US" sz="2000" dirty="0">
                <a:latin typeface="Garamond" panose="02020404030301010803" pitchFamily="18" charset="0"/>
              </a:rPr>
              <a:t>Does this have additional descriptive power for important questions around political attitudes?</a:t>
            </a:r>
          </a:p>
          <a:p>
            <a:r>
              <a:rPr lang="en-US" sz="2000" dirty="0">
                <a:latin typeface="Garamond" panose="02020404030301010803" pitchFamily="18" charset="0"/>
              </a:rPr>
              <a:t>Are those questions and the potential additional information that it gives us distinct for different populations, particularly African Americans? </a:t>
            </a:r>
          </a:p>
        </p:txBody>
      </p:sp>
    </p:spTree>
    <p:extLst>
      <p:ext uri="{BB962C8B-B14F-4D97-AF65-F5344CB8AC3E}">
        <p14:creationId xmlns:p14="http://schemas.microsoft.com/office/powerpoint/2010/main" val="3425768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6567504" cy="523220"/>
          </a:xfrm>
          <a:prstGeom prst="rect">
            <a:avLst/>
          </a:prstGeom>
          <a:noFill/>
        </p:spPr>
        <p:txBody>
          <a:bodyPr wrap="none">
            <a:spAutoFit/>
          </a:bodyPr>
          <a:lstStyle/>
          <a:p>
            <a:r>
              <a:rPr sz="2800" b="1" dirty="0">
                <a:latin typeface="Garamond"/>
              </a:rPr>
              <a:t>JQI </a:t>
            </a:r>
            <a:r>
              <a:rPr lang="en-US" sz="2800" b="1" dirty="0">
                <a:latin typeface="Garamond"/>
              </a:rPr>
              <a:t>Accentuates but doesn’t replace </a:t>
            </a:r>
            <a:r>
              <a:rPr sz="2800" b="1" dirty="0">
                <a:latin typeface="Garamond"/>
              </a:rPr>
              <a:t>Class</a:t>
            </a:r>
          </a:p>
        </p:txBody>
      </p:sp>
      <p:sp>
        <p:nvSpPr>
          <p:cNvPr id="5" name="TextBox 4"/>
          <p:cNvSpPr txBox="1"/>
          <p:nvPr/>
        </p:nvSpPr>
        <p:spPr>
          <a:xfrm>
            <a:off x="822960" y="1143000"/>
            <a:ext cx="9875520" cy="1149033"/>
          </a:xfrm>
          <a:prstGeom prst="rect">
            <a:avLst/>
          </a:prstGeom>
          <a:noFill/>
        </p:spPr>
        <p:txBody>
          <a:bodyPr wrap="square">
            <a:spAutoFit/>
          </a:bodyPr>
          <a:lstStyle/>
          <a:p>
            <a:pPr>
              <a:spcAft>
                <a:spcPts val="1400"/>
              </a:spcAft>
              <a:defRPr sz="1900">
                <a:latin typeface="Garamond"/>
              </a:defRPr>
            </a:pPr>
            <a:r>
              <a:rPr dirty="0"/>
              <a:t>• Social class</a:t>
            </a:r>
            <a:r>
              <a:rPr lang="en-US" dirty="0"/>
              <a:t> (here meaning respondent self-reported class status)</a:t>
            </a:r>
            <a:r>
              <a:rPr dirty="0"/>
              <a:t> remains a powerful predictor of political attitudes.</a:t>
            </a:r>
          </a:p>
          <a:p>
            <a:pPr>
              <a:spcAft>
                <a:spcPts val="1400"/>
              </a:spcAft>
              <a:defRPr sz="1900">
                <a:latin typeface="Garamond"/>
              </a:defRPr>
            </a:pPr>
            <a:r>
              <a:rPr dirty="0"/>
              <a:t>• But JQI adds information beyond class for </a:t>
            </a:r>
            <a:r>
              <a:rPr lang="en-US" dirty="0"/>
              <a:t>all attitudinal measures that I study</a:t>
            </a:r>
            <a:r>
              <a:rPr dirty="0"/>
              <a:t>.</a:t>
            </a:r>
          </a:p>
        </p:txBody>
      </p:sp>
      <p:graphicFrame>
        <p:nvGraphicFramePr>
          <p:cNvPr id="6" name="Table 5"/>
          <p:cNvGraphicFramePr>
            <a:graphicFrameLocks noGrp="1"/>
          </p:cNvGraphicFramePr>
          <p:nvPr>
            <p:extLst>
              <p:ext uri="{D42A27DB-BD31-4B8C-83A1-F6EECF244321}">
                <p14:modId xmlns:p14="http://schemas.microsoft.com/office/powerpoint/2010/main" val="134774200"/>
              </p:ext>
            </p:extLst>
          </p:nvPr>
        </p:nvGraphicFramePr>
        <p:xfrm>
          <a:off x="1097280" y="2856155"/>
          <a:ext cx="9326880" cy="246888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11480">
                <a:tc>
                  <a:txBody>
                    <a:bodyPr/>
                    <a:lstStyle/>
                    <a:p>
                      <a:pPr algn="ctr"/>
                      <a:r>
                        <a:rPr sz="1500" b="1" dirty="0">
                          <a:latin typeface="Garamond"/>
                        </a:rPr>
                        <a:t>Outcome</a:t>
                      </a:r>
                    </a:p>
                  </a:txBody>
                  <a:tcPr anchor="ctr"/>
                </a:tc>
                <a:tc>
                  <a:txBody>
                    <a:bodyPr/>
                    <a:lstStyle/>
                    <a:p>
                      <a:pPr algn="ctr"/>
                      <a:r>
                        <a:rPr sz="1500" b="1">
                          <a:latin typeface="Garamond"/>
                        </a:rPr>
                        <a:t>JQI beyond class</a:t>
                      </a:r>
                    </a:p>
                  </a:txBody>
                  <a:tcPr anchor="ctr"/>
                </a:tc>
                <a:tc>
                  <a:txBody>
                    <a:bodyPr/>
                    <a:lstStyle/>
                    <a:p>
                      <a:pPr algn="ctr"/>
                      <a:r>
                        <a:rPr sz="1500" b="1">
                          <a:latin typeface="Garamond"/>
                        </a:rPr>
                        <a:t>Class beyond employment</a:t>
                      </a:r>
                    </a:p>
                  </a:txBody>
                  <a:tcPr anchor="ctr"/>
                </a:tc>
                <a:extLst>
                  <a:ext uri="{0D108BD9-81ED-4DB2-BD59-A6C34878D82A}">
                    <a16:rowId xmlns:a16="http://schemas.microsoft.com/office/drawing/2014/main" val="10000"/>
                  </a:ext>
                </a:extLst>
              </a:tr>
              <a:tr h="411480">
                <a:tc>
                  <a:txBody>
                    <a:bodyPr/>
                    <a:lstStyle/>
                    <a:p>
                      <a:pPr algn="ctr"/>
                      <a:r>
                        <a:rPr sz="1500">
                          <a:latin typeface="Garamond"/>
                        </a:rPr>
                        <a:t>Redistribution</a:t>
                      </a:r>
                    </a:p>
                  </a:txBody>
                  <a:tcPr anchor="ctr"/>
                </a:tc>
                <a:tc>
                  <a:txBody>
                    <a:bodyPr/>
                    <a:lstStyle/>
                    <a:p>
                      <a:pPr algn="ctr"/>
                      <a:r>
                        <a:rPr sz="1500">
                          <a:latin typeface="Garamond"/>
                        </a:rPr>
                        <a:t>p &lt; 0.001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1"/>
                  </a:ext>
                </a:extLst>
              </a:tr>
              <a:tr h="411480">
                <a:tc>
                  <a:txBody>
                    <a:bodyPr/>
                    <a:lstStyle/>
                    <a:p>
                      <a:pPr algn="ctr"/>
                      <a:r>
                        <a:rPr sz="1500">
                          <a:latin typeface="Garamond"/>
                        </a:rPr>
                        <a:t>Getting ahead</a:t>
                      </a:r>
                    </a:p>
                  </a:txBody>
                  <a:tcPr anchor="ctr"/>
                </a:tc>
                <a:tc>
                  <a:txBody>
                    <a:bodyPr/>
                    <a:lstStyle/>
                    <a:p>
                      <a:pPr algn="ctr"/>
                      <a:r>
                        <a:rPr sz="1500">
                          <a:latin typeface="Garamond"/>
                        </a:rPr>
                        <a:t>p = 0.101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2"/>
                  </a:ext>
                </a:extLst>
              </a:tr>
              <a:tr h="411480">
                <a:tc>
                  <a:txBody>
                    <a:bodyPr/>
                    <a:lstStyle/>
                    <a:p>
                      <a:pPr algn="ctr"/>
                      <a:r>
                        <a:rPr sz="1500" dirty="0">
                          <a:latin typeface="Garamond"/>
                        </a:rPr>
                        <a:t>Children's future</a:t>
                      </a:r>
                    </a:p>
                  </a:txBody>
                  <a:tcPr anchor="ctr"/>
                </a:tc>
                <a:tc>
                  <a:txBody>
                    <a:bodyPr/>
                    <a:lstStyle/>
                    <a:p>
                      <a:pPr algn="ctr"/>
                      <a:r>
                        <a:rPr sz="1500">
                          <a:latin typeface="Garamond"/>
                        </a:rPr>
                        <a:t>p &lt; 0.001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3"/>
                  </a:ext>
                </a:extLst>
              </a:tr>
              <a:tr h="411480">
                <a:tc>
                  <a:txBody>
                    <a:bodyPr/>
                    <a:lstStyle/>
                    <a:p>
                      <a:pPr algn="ctr"/>
                      <a:r>
                        <a:rPr sz="1500">
                          <a:latin typeface="Garamond"/>
                        </a:rPr>
                        <a:t>Political efficacy</a:t>
                      </a:r>
                    </a:p>
                  </a:txBody>
                  <a:tcPr anchor="ctr"/>
                </a:tc>
                <a:tc>
                  <a:txBody>
                    <a:bodyPr/>
                    <a:lstStyle/>
                    <a:p>
                      <a:pPr algn="ctr"/>
                      <a:r>
                        <a:rPr sz="1500">
                          <a:latin typeface="Garamond"/>
                        </a:rPr>
                        <a:t>p = 0.021</a:t>
                      </a:r>
                    </a:p>
                  </a:txBody>
                  <a:tcPr anchor="ctr"/>
                </a:tc>
                <a:tc>
                  <a:txBody>
                    <a:bodyPr/>
                    <a:lstStyle/>
                    <a:p>
                      <a:pPr algn="ctr"/>
                      <a:r>
                        <a:rPr sz="1500">
                          <a:latin typeface="Garamond"/>
                        </a:rPr>
                        <a:t>p &lt; 0.001</a:t>
                      </a:r>
                    </a:p>
                  </a:txBody>
                  <a:tcPr anchor="ctr"/>
                </a:tc>
                <a:extLst>
                  <a:ext uri="{0D108BD9-81ED-4DB2-BD59-A6C34878D82A}">
                    <a16:rowId xmlns:a16="http://schemas.microsoft.com/office/drawing/2014/main" val="10004"/>
                  </a:ext>
                </a:extLst>
              </a:tr>
              <a:tr h="411480">
                <a:tc>
                  <a:txBody>
                    <a:bodyPr/>
                    <a:lstStyle/>
                    <a:p>
                      <a:pPr algn="ctr"/>
                      <a:r>
                        <a:rPr sz="1500" dirty="0">
                          <a:latin typeface="Garamond"/>
                        </a:rPr>
                        <a:t>Tax attitudes</a:t>
                      </a:r>
                    </a:p>
                  </a:txBody>
                  <a:tcPr anchor="ctr"/>
                </a:tc>
                <a:tc>
                  <a:txBody>
                    <a:bodyPr/>
                    <a:lstStyle/>
                    <a:p>
                      <a:pPr algn="ctr"/>
                      <a:r>
                        <a:rPr sz="1500">
                          <a:latin typeface="Garamond"/>
                        </a:rPr>
                        <a:t>p &lt; 0.001</a:t>
                      </a:r>
                    </a:p>
                  </a:txBody>
                  <a:tcPr anchor="ctr"/>
                </a:tc>
                <a:tc>
                  <a:txBody>
                    <a:bodyPr/>
                    <a:lstStyle/>
                    <a:p>
                      <a:pPr algn="ctr"/>
                      <a:r>
                        <a:rPr sz="1500" dirty="0">
                          <a:latin typeface="Garamond"/>
                        </a:rPr>
                        <a:t>p &lt; 0.001</a:t>
                      </a:r>
                    </a:p>
                  </a:txBody>
                  <a:tcPr anchor="ctr"/>
                </a:tc>
                <a:extLst>
                  <a:ext uri="{0D108BD9-81ED-4DB2-BD59-A6C34878D82A}">
                    <a16:rowId xmlns:a16="http://schemas.microsoft.com/office/drawing/2014/main" val="10005"/>
                  </a:ext>
                </a:extLst>
              </a:tr>
            </a:tbl>
          </a:graphicData>
        </a:graphic>
      </p:graphicFrame>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rPr dirty="0"/>
              <a:t>Nested model likelihood-ratio tests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7760138" cy="523220"/>
          </a:xfrm>
          <a:prstGeom prst="rect">
            <a:avLst/>
          </a:prstGeom>
          <a:noFill/>
        </p:spPr>
        <p:txBody>
          <a:bodyPr wrap="none">
            <a:spAutoFit/>
          </a:bodyPr>
          <a:lstStyle/>
          <a:p>
            <a:r>
              <a:rPr sz="2800" b="1" dirty="0">
                <a:latin typeface="Garamond"/>
              </a:rPr>
              <a:t>Does JQI Add Information Beyond Employment?</a:t>
            </a:r>
          </a:p>
        </p:txBody>
      </p:sp>
      <p:sp>
        <p:nvSpPr>
          <p:cNvPr id="5" name="TextBox 4"/>
          <p:cNvSpPr txBox="1"/>
          <p:nvPr/>
        </p:nvSpPr>
        <p:spPr>
          <a:xfrm>
            <a:off x="822960" y="941294"/>
            <a:ext cx="9875520" cy="677108"/>
          </a:xfrm>
          <a:prstGeom prst="rect">
            <a:avLst/>
          </a:prstGeom>
          <a:noFill/>
        </p:spPr>
        <p:txBody>
          <a:bodyPr wrap="square">
            <a:spAutoFit/>
          </a:bodyPr>
          <a:lstStyle/>
          <a:p>
            <a:pPr>
              <a:spcAft>
                <a:spcPts val="1400"/>
              </a:spcAft>
              <a:defRPr sz="1900">
                <a:latin typeface="Garamond"/>
              </a:defRPr>
            </a:pPr>
            <a:r>
              <a:rPr dirty="0"/>
              <a:t>• JQI adds significant information within employment-status categories for </a:t>
            </a:r>
            <a:r>
              <a:rPr lang="en-US" dirty="0"/>
              <a:t>all </a:t>
            </a:r>
            <a:r>
              <a:rPr dirty="0"/>
              <a:t>political attitudes</a:t>
            </a:r>
            <a:r>
              <a:rPr lang="en-US" dirty="0"/>
              <a:t>    measured in the study</a:t>
            </a:r>
            <a:r>
              <a:rPr dirty="0"/>
              <a:t>.</a:t>
            </a:r>
          </a:p>
        </p:txBody>
      </p:sp>
      <p:sp>
        <p:nvSpPr>
          <p:cNvPr id="7" name="TextBox 6"/>
          <p:cNvSpPr txBox="1"/>
          <p:nvPr/>
        </p:nvSpPr>
        <p:spPr>
          <a:xfrm>
            <a:off x="640080" y="6446520"/>
            <a:ext cx="10058400" cy="228600"/>
          </a:xfrm>
          <a:prstGeom prst="rect">
            <a:avLst/>
          </a:prstGeom>
          <a:noFill/>
        </p:spPr>
        <p:txBody>
          <a:bodyPr wrap="none">
            <a:spAutoFit/>
          </a:bodyPr>
          <a:lstStyle/>
          <a:p>
            <a:pPr>
              <a:defRPr sz="1000">
                <a:latin typeface="Garamond"/>
              </a:defRPr>
            </a:pPr>
            <a:r>
              <a:t>LR tests comparing nested ordered-logit models</a:t>
            </a:r>
          </a:p>
        </p:txBody>
      </p:sp>
      <p:pic>
        <p:nvPicPr>
          <p:cNvPr id="3" name="Picture 2">
            <a:extLst>
              <a:ext uri="{FF2B5EF4-FFF2-40B4-BE49-F238E27FC236}">
                <a16:creationId xmlns:a16="http://schemas.microsoft.com/office/drawing/2014/main" id="{CE6E1D67-B25E-654C-4762-A1E06CAE67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8129" y="1613498"/>
            <a:ext cx="8285181" cy="48330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1D8BC-30DF-427E-0373-9E90C058BFD7}"/>
              </a:ext>
            </a:extLst>
          </p:cNvPr>
          <p:cNvSpPr>
            <a:spLocks noGrp="1"/>
          </p:cNvSpPr>
          <p:nvPr>
            <p:ph type="title"/>
          </p:nvPr>
        </p:nvSpPr>
        <p:spPr/>
        <p:txBody>
          <a:bodyPr/>
          <a:lstStyle/>
          <a:p>
            <a:r>
              <a:rPr lang="en-US" dirty="0">
                <a:latin typeface="Garamond" panose="02020404030301010803" pitchFamily="18" charset="0"/>
              </a:rPr>
              <a:t>Objective and Subjective Forms of Employment Quality</a:t>
            </a:r>
          </a:p>
        </p:txBody>
      </p:sp>
      <p:sp>
        <p:nvSpPr>
          <p:cNvPr id="3" name="Content Placeholder 2">
            <a:extLst>
              <a:ext uri="{FF2B5EF4-FFF2-40B4-BE49-F238E27FC236}">
                <a16:creationId xmlns:a16="http://schemas.microsoft.com/office/drawing/2014/main" id="{FD9EB395-A624-A549-D103-1ED87670F39D}"/>
              </a:ext>
            </a:extLst>
          </p:cNvPr>
          <p:cNvSpPr>
            <a:spLocks noGrp="1"/>
          </p:cNvSpPr>
          <p:nvPr>
            <p:ph idx="1"/>
          </p:nvPr>
        </p:nvSpPr>
        <p:spPr/>
        <p:txBody>
          <a:bodyPr>
            <a:noAutofit/>
          </a:bodyPr>
          <a:lstStyle/>
          <a:p>
            <a:r>
              <a:rPr lang="en-US" sz="1800" b="1" dirty="0">
                <a:latin typeface="Garamond" panose="02020404030301010803" pitchFamily="18" charset="0"/>
              </a:rPr>
              <a:t>Job satisfaction</a:t>
            </a:r>
            <a:r>
              <a:rPr lang="en-US" sz="1800" dirty="0">
                <a:latin typeface="Garamond" panose="02020404030301010803" pitchFamily="18" charset="0"/>
              </a:rPr>
              <a:t>:</a:t>
            </a:r>
          </a:p>
          <a:p>
            <a:pPr lvl="1"/>
            <a:r>
              <a:rPr lang="en-US" sz="1800" dirty="0">
                <a:latin typeface="Garamond" panose="02020404030301010803" pitchFamily="18" charset="0"/>
              </a:rPr>
              <a:t>Compensation: </a:t>
            </a:r>
            <a:r>
              <a:rPr lang="el-GR" sz="1800" dirty="0">
                <a:latin typeface="Garamond" panose="02020404030301010803" pitchFamily="18" charset="0"/>
              </a:rPr>
              <a:t>β = 0.045983, </a:t>
            </a:r>
            <a:r>
              <a:rPr lang="en-US" sz="1800" dirty="0">
                <a:latin typeface="Garamond" panose="02020404030301010803" pitchFamily="18" charset="0"/>
              </a:rPr>
              <a:t>p = 3.09×10⁻¹²</a:t>
            </a:r>
          </a:p>
          <a:p>
            <a:pPr lvl="1"/>
            <a:r>
              <a:rPr lang="en-US" sz="1800" dirty="0">
                <a:latin typeface="Garamond" panose="02020404030301010803" pitchFamily="18" charset="0"/>
              </a:rPr>
              <a:t>Benefits: </a:t>
            </a:r>
            <a:r>
              <a:rPr lang="el-GR" sz="1800" dirty="0">
                <a:latin typeface="Garamond" panose="02020404030301010803" pitchFamily="18" charset="0"/>
              </a:rPr>
              <a:t>β = 0.045709, </a:t>
            </a:r>
            <a:r>
              <a:rPr lang="en-US" sz="1800" dirty="0">
                <a:latin typeface="Garamond" panose="02020404030301010803" pitchFamily="18" charset="0"/>
              </a:rPr>
              <a:t>p &lt; 0.001</a:t>
            </a:r>
          </a:p>
          <a:p>
            <a:pPr lvl="1"/>
            <a:r>
              <a:rPr lang="en-US" sz="1800" dirty="0">
                <a:latin typeface="Garamond" panose="02020404030301010803" pitchFamily="18" charset="0"/>
              </a:rPr>
              <a:t>Earnings stability: </a:t>
            </a:r>
            <a:r>
              <a:rPr lang="el-GR" sz="1800" dirty="0">
                <a:latin typeface="Garamond" panose="02020404030301010803" pitchFamily="18" charset="0"/>
              </a:rPr>
              <a:t>β = −0.018845, </a:t>
            </a:r>
            <a:r>
              <a:rPr lang="en-US" sz="1800" dirty="0">
                <a:latin typeface="Garamond" panose="02020404030301010803" pitchFamily="18" charset="0"/>
              </a:rPr>
              <a:t>p = .00342 </a:t>
            </a:r>
          </a:p>
          <a:p>
            <a:pPr marL="0" indent="0">
              <a:buNone/>
            </a:pPr>
            <a:r>
              <a:rPr lang="en-US" sz="1800" dirty="0">
                <a:latin typeface="Garamond" panose="02020404030301010803" pitchFamily="18" charset="0"/>
              </a:rPr>
              <a:t>Compensation and benefits are positive when considered separately, but once entered jointly, benefits is the only component that remains clearly associated with satisfaction.</a:t>
            </a:r>
          </a:p>
          <a:p>
            <a:r>
              <a:rPr lang="en-US" sz="1800" b="1" dirty="0">
                <a:latin typeface="Garamond" panose="02020404030301010803" pitchFamily="18" charset="0"/>
              </a:rPr>
              <a:t>Personal financial satisfaction: </a:t>
            </a:r>
          </a:p>
          <a:p>
            <a:pPr lvl="1"/>
            <a:r>
              <a:rPr lang="en-US" sz="1800" dirty="0">
                <a:latin typeface="Garamond" panose="02020404030301010803" pitchFamily="18" charset="0"/>
              </a:rPr>
              <a:t>Compensation: </a:t>
            </a:r>
            <a:r>
              <a:rPr lang="el-GR" sz="1800" dirty="0">
                <a:latin typeface="Garamond" panose="02020404030301010803" pitchFamily="18" charset="0"/>
              </a:rPr>
              <a:t>β = 0.08822</a:t>
            </a:r>
            <a:r>
              <a:rPr lang="en-US" sz="1600" dirty="0">
                <a:latin typeface="Garamond" panose="02020404030301010803" pitchFamily="18" charset="0"/>
              </a:rPr>
              <a:t>,</a:t>
            </a:r>
            <a:r>
              <a:rPr lang="en-US" sz="1600" dirty="0"/>
              <a:t> </a:t>
            </a:r>
            <a:r>
              <a:rPr lang="en-US" sz="1600" dirty="0">
                <a:latin typeface="Garamond" panose="02020404030301010803" pitchFamily="18" charset="0"/>
              </a:rPr>
              <a:t>p= 0.005357 </a:t>
            </a:r>
          </a:p>
          <a:p>
            <a:pPr lvl="1"/>
            <a:r>
              <a:rPr lang="en-US" sz="1800" dirty="0">
                <a:latin typeface="Garamond" panose="02020404030301010803" pitchFamily="18" charset="0"/>
              </a:rPr>
              <a:t>Benefits: </a:t>
            </a:r>
            <a:r>
              <a:rPr lang="el-GR" sz="1800" dirty="0">
                <a:latin typeface="Garamond" panose="02020404030301010803" pitchFamily="18" charset="0"/>
              </a:rPr>
              <a:t>β = 0.08083</a:t>
            </a:r>
            <a:r>
              <a:rPr lang="en-US" sz="1800" dirty="0">
                <a:latin typeface="Garamond" panose="02020404030301010803" pitchFamily="18" charset="0"/>
              </a:rPr>
              <a:t>, </a:t>
            </a:r>
            <a:r>
              <a:rPr lang="en-US" sz="2000" dirty="0">
                <a:latin typeface="Garamond" panose="02020404030301010803" pitchFamily="18" charset="0"/>
              </a:rPr>
              <a:t>p=</a:t>
            </a:r>
            <a:r>
              <a:rPr lang="en-US" sz="1800" dirty="0">
                <a:latin typeface="Garamond" panose="02020404030301010803" pitchFamily="18" charset="0"/>
              </a:rPr>
              <a:t>0.004773</a:t>
            </a:r>
          </a:p>
          <a:p>
            <a:pPr lvl="1"/>
            <a:r>
              <a:rPr lang="en-US" sz="1800" dirty="0">
                <a:latin typeface="Garamond" panose="02020404030301010803" pitchFamily="18" charset="0"/>
              </a:rPr>
              <a:t>Earnings stability: </a:t>
            </a:r>
            <a:r>
              <a:rPr lang="el-GR" sz="1800" dirty="0">
                <a:latin typeface="Garamond" panose="02020404030301010803" pitchFamily="18" charset="0"/>
              </a:rPr>
              <a:t>β = −0.06420</a:t>
            </a:r>
            <a:r>
              <a:rPr lang="en-US" sz="1800" dirty="0">
                <a:latin typeface="Garamond" panose="02020404030301010803" pitchFamily="18" charset="0"/>
              </a:rPr>
              <a:t>, p=0.005162</a:t>
            </a:r>
          </a:p>
          <a:p>
            <a:pPr marL="0" indent="0">
              <a:buNone/>
            </a:pPr>
            <a:r>
              <a:rPr lang="en-US" sz="1800" dirty="0">
                <a:latin typeface="Garamond" panose="02020404030301010803" pitchFamily="18" charset="0"/>
              </a:rPr>
              <a:t>All three components are associated separately; jointly, benefits remains strongly positive and earnings stability is strongly negative, while compensation is only marginally positive (p = .0484).</a:t>
            </a:r>
          </a:p>
        </p:txBody>
      </p:sp>
    </p:spTree>
    <p:extLst>
      <p:ext uri="{BB962C8B-B14F-4D97-AF65-F5344CB8AC3E}">
        <p14:creationId xmlns:p14="http://schemas.microsoft.com/office/powerpoint/2010/main" val="4148106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A765BE-C93D-8015-4C56-66C649CCC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1835" y="228600"/>
            <a:ext cx="7028329" cy="6400800"/>
          </a:xfrm>
          <a:prstGeom prst="rect">
            <a:avLst/>
          </a:prstGeom>
        </p:spPr>
      </p:pic>
    </p:spTree>
    <p:extLst>
      <p:ext uri="{BB962C8B-B14F-4D97-AF65-F5344CB8AC3E}">
        <p14:creationId xmlns:p14="http://schemas.microsoft.com/office/powerpoint/2010/main" val="1657056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B34BD9-B09E-8922-538F-43EEB3FA63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1442" y="382401"/>
            <a:ext cx="9749116" cy="6093198"/>
          </a:xfrm>
        </p:spPr>
      </p:pic>
    </p:spTree>
    <p:extLst>
      <p:ext uri="{BB962C8B-B14F-4D97-AF65-F5344CB8AC3E}">
        <p14:creationId xmlns:p14="http://schemas.microsoft.com/office/powerpoint/2010/main" val="443066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33311C-81FA-6B4D-1DA7-252A5521BC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417" y="129763"/>
            <a:ext cx="9426389" cy="6598473"/>
          </a:xfrm>
        </p:spPr>
      </p:pic>
    </p:spTree>
    <p:extLst>
      <p:ext uri="{BB962C8B-B14F-4D97-AF65-F5344CB8AC3E}">
        <p14:creationId xmlns:p14="http://schemas.microsoft.com/office/powerpoint/2010/main" val="2376588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CA0640-4912-E784-E1CC-1F0E8AD37B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0360" y="169769"/>
            <a:ext cx="8691280" cy="6518461"/>
          </a:xfrm>
        </p:spPr>
      </p:pic>
    </p:spTree>
    <p:extLst>
      <p:ext uri="{BB962C8B-B14F-4D97-AF65-F5344CB8AC3E}">
        <p14:creationId xmlns:p14="http://schemas.microsoft.com/office/powerpoint/2010/main" val="1622854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320040"/>
            <a:ext cx="10241280" cy="594360"/>
          </a:xfrm>
          <a:prstGeom prst="rect">
            <a:avLst/>
          </a:prstGeom>
          <a:noFill/>
        </p:spPr>
        <p:txBody>
          <a:bodyPr wrap="none">
            <a:spAutoFit/>
          </a:bodyPr>
          <a:lstStyle/>
          <a:p>
            <a:r>
              <a:rPr sz="2800" b="1">
                <a:latin typeface="Garamond"/>
              </a:rPr>
              <a:t>What About Confidence in Government?</a:t>
            </a:r>
          </a:p>
        </p:txBody>
      </p:sp>
      <p:sp>
        <p:nvSpPr>
          <p:cNvPr id="5" name="TextBox 4"/>
          <p:cNvSpPr txBox="1"/>
          <p:nvPr/>
        </p:nvSpPr>
        <p:spPr>
          <a:xfrm>
            <a:off x="822960" y="1325880"/>
            <a:ext cx="9875520" cy="4480560"/>
          </a:xfrm>
          <a:prstGeom prst="rect">
            <a:avLst/>
          </a:prstGeom>
          <a:noFill/>
        </p:spPr>
        <p:txBody>
          <a:bodyPr wrap="square">
            <a:spAutoFit/>
          </a:bodyPr>
          <a:lstStyle/>
          <a:p>
            <a:pPr>
              <a:spcAft>
                <a:spcPts val="1400"/>
              </a:spcAft>
              <a:defRPr sz="2000">
                <a:latin typeface="Garamond"/>
              </a:defRPr>
            </a:pPr>
            <a:r>
              <a:t>• The political-attitude story is not uniformly about compensation or benefits.</a:t>
            </a:r>
          </a:p>
          <a:p>
            <a:pPr>
              <a:spcAft>
                <a:spcPts val="1400"/>
              </a:spcAft>
              <a:defRPr sz="2000">
                <a:latin typeface="Garamond"/>
              </a:defRPr>
            </a:pPr>
            <a:r>
              <a:t>• In the joint model, earnings stability is the clearest job-quality predictor of confidence in government: β = 0.021, p = 0.001.</a:t>
            </a:r>
          </a:p>
          <a:p>
            <a:pPr>
              <a:spcAft>
                <a:spcPts val="1400"/>
              </a:spcAft>
              <a:defRPr sz="2000">
                <a:latin typeface="Garamond"/>
              </a:defRPr>
            </a:pPr>
            <a:r>
              <a:t>• Compensation is weaker (β = 0.024, p = 0.085); benefits are essentially null (β = 0.002, p = 0.893).</a:t>
            </a:r>
          </a:p>
          <a:p>
            <a:pPr>
              <a:spcAft>
                <a:spcPts val="1400"/>
              </a:spcAft>
              <a:defRPr sz="2000">
                <a:latin typeface="Garamond"/>
              </a:defRPr>
            </a:pPr>
            <a:r>
              <a:t>• There is no significant evidence that these relationships differ by race.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B15531-437D-D4D5-6C32-B3FA2694A0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118" y="134470"/>
            <a:ext cx="10981764" cy="6589059"/>
          </a:xfrm>
        </p:spPr>
      </p:pic>
    </p:spTree>
    <p:extLst>
      <p:ext uri="{BB962C8B-B14F-4D97-AF65-F5344CB8AC3E}">
        <p14:creationId xmlns:p14="http://schemas.microsoft.com/office/powerpoint/2010/main" val="3374656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61848" y="333178"/>
            <a:ext cx="4990790" cy="523220"/>
          </a:xfrm>
          <a:prstGeom prst="rect">
            <a:avLst/>
          </a:prstGeom>
          <a:noFill/>
        </p:spPr>
        <p:txBody>
          <a:bodyPr wrap="none">
            <a:spAutoFit/>
          </a:bodyPr>
          <a:lstStyle/>
          <a:p>
            <a:r>
              <a:rPr sz="2800" b="1" dirty="0">
                <a:latin typeface="Garamond"/>
              </a:rPr>
              <a:t>Race </a:t>
            </a:r>
            <a:r>
              <a:rPr lang="en-US" sz="2800" b="1" dirty="0">
                <a:latin typeface="Garamond"/>
              </a:rPr>
              <a:t>and Employment Quality</a:t>
            </a:r>
            <a:endParaRPr sz="2800" b="1" dirty="0">
              <a:latin typeface="Garamond"/>
            </a:endParaRPr>
          </a:p>
        </p:txBody>
      </p:sp>
      <p:sp>
        <p:nvSpPr>
          <p:cNvPr id="6" name="TextBox 5"/>
          <p:cNvSpPr txBox="1"/>
          <p:nvPr/>
        </p:nvSpPr>
        <p:spPr>
          <a:xfrm>
            <a:off x="336176" y="1267022"/>
            <a:ext cx="3268872" cy="2544286"/>
          </a:xfrm>
          <a:prstGeom prst="rect">
            <a:avLst/>
          </a:prstGeom>
          <a:noFill/>
        </p:spPr>
        <p:txBody>
          <a:bodyPr wrap="square">
            <a:spAutoFit/>
          </a:bodyPr>
          <a:lstStyle/>
          <a:p>
            <a:pPr>
              <a:spcAft>
                <a:spcPts val="1400"/>
              </a:spcAft>
              <a:defRPr sz="1700">
                <a:latin typeface="Garamond"/>
              </a:defRPr>
            </a:pPr>
            <a:r>
              <a:rPr dirty="0"/>
              <a:t>• Black respondents are </a:t>
            </a:r>
            <a:r>
              <a:rPr lang="en-US" dirty="0"/>
              <a:t>concentrated in industries with</a:t>
            </a:r>
            <a:r>
              <a:rPr dirty="0"/>
              <a:t> lower compensation and benefits.</a:t>
            </a:r>
          </a:p>
          <a:p>
            <a:pPr>
              <a:spcAft>
                <a:spcPts val="1400"/>
              </a:spcAft>
              <a:defRPr sz="1700">
                <a:latin typeface="Garamond"/>
              </a:defRPr>
            </a:pPr>
            <a:r>
              <a:rPr dirty="0"/>
              <a:t>• But they are exposed to higher measured earnings stability.</a:t>
            </a:r>
          </a:p>
          <a:p>
            <a:pPr>
              <a:spcAft>
                <a:spcPts val="1400"/>
              </a:spcAft>
              <a:defRPr sz="1700">
                <a:latin typeface="Garamond"/>
              </a:defRPr>
            </a:pPr>
            <a:r>
              <a:rPr dirty="0"/>
              <a:t>• A single composite would compress these substantively different patterns into one number.</a:t>
            </a:r>
          </a:p>
        </p:txBody>
      </p:sp>
      <p:pic>
        <p:nvPicPr>
          <p:cNvPr id="3" name="Picture 2">
            <a:extLst>
              <a:ext uri="{FF2B5EF4-FFF2-40B4-BE49-F238E27FC236}">
                <a16:creationId xmlns:a16="http://schemas.microsoft.com/office/drawing/2014/main" id="{14B94140-BFDB-C017-62C7-8A19DC7BA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5048" y="1267022"/>
            <a:ext cx="7772400" cy="46634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F7B9BE-D0CF-898A-48EE-D97964B2BD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7740" y="141194"/>
            <a:ext cx="7397563" cy="6575612"/>
          </a:xfrm>
        </p:spPr>
      </p:pic>
    </p:spTree>
    <p:extLst>
      <p:ext uri="{BB962C8B-B14F-4D97-AF65-F5344CB8AC3E}">
        <p14:creationId xmlns:p14="http://schemas.microsoft.com/office/powerpoint/2010/main" val="2873044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83822F-2708-56AF-E8A9-3EBEB4362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03" y="239307"/>
            <a:ext cx="10438993" cy="6379385"/>
          </a:xfrm>
          <a:prstGeom prst="rect">
            <a:avLst/>
          </a:prstGeom>
        </p:spPr>
      </p:pic>
    </p:spTree>
    <p:extLst>
      <p:ext uri="{BB962C8B-B14F-4D97-AF65-F5344CB8AC3E}">
        <p14:creationId xmlns:p14="http://schemas.microsoft.com/office/powerpoint/2010/main" val="1341431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62E70-0491-F1CC-4371-C5FC31BEDF77}"/>
              </a:ext>
            </a:extLst>
          </p:cNvPr>
          <p:cNvSpPr>
            <a:spLocks noGrp="1"/>
          </p:cNvSpPr>
          <p:nvPr>
            <p:ph type="title"/>
          </p:nvPr>
        </p:nvSpPr>
        <p:spPr/>
        <p:txBody>
          <a:bodyPr/>
          <a:lstStyle/>
          <a:p>
            <a:r>
              <a:rPr lang="en-US" dirty="0">
                <a:latin typeface="Garamond" panose="02020404030301010803" pitchFamily="18" charset="0"/>
              </a:rPr>
              <a:t>Takeaways</a:t>
            </a:r>
          </a:p>
        </p:txBody>
      </p:sp>
      <p:sp>
        <p:nvSpPr>
          <p:cNvPr id="3" name="Content Placeholder 2">
            <a:extLst>
              <a:ext uri="{FF2B5EF4-FFF2-40B4-BE49-F238E27FC236}">
                <a16:creationId xmlns:a16="http://schemas.microsoft.com/office/drawing/2014/main" id="{711ABA3D-3D02-0272-C684-3602BAB921A0}"/>
              </a:ext>
            </a:extLst>
          </p:cNvPr>
          <p:cNvSpPr>
            <a:spLocks noGrp="1"/>
          </p:cNvSpPr>
          <p:nvPr>
            <p:ph idx="1"/>
          </p:nvPr>
        </p:nvSpPr>
        <p:spPr/>
        <p:txBody>
          <a:bodyPr>
            <a:normAutofit/>
          </a:bodyPr>
          <a:lstStyle/>
          <a:p>
            <a:r>
              <a:rPr lang="en-US" sz="2000" dirty="0">
                <a:latin typeface="Garamond" panose="02020404030301010803" pitchFamily="18" charset="0"/>
              </a:rPr>
              <a:t>The political contours of a job are more dynamic than we’ve fully realized and have implication for political attitudes that we’ve yet to fully detect</a:t>
            </a:r>
          </a:p>
          <a:p>
            <a:r>
              <a:rPr lang="en-US" sz="2000" dirty="0">
                <a:latin typeface="Garamond" panose="02020404030301010803" pitchFamily="18" charset="0"/>
              </a:rPr>
              <a:t>Compensation, benefits, and earnings stability are distinct political phenomenon that are wrapped up within the broader concept of work status. </a:t>
            </a:r>
          </a:p>
          <a:p>
            <a:r>
              <a:rPr lang="en-US" sz="2000" dirty="0">
                <a:latin typeface="Garamond" panose="02020404030301010803" pitchFamily="18" charset="0"/>
              </a:rPr>
              <a:t>Moreover, distinguishing these concepts from one another also provides insights into the ways that race and class are interlinked within the American Political Economy</a:t>
            </a:r>
          </a:p>
          <a:p>
            <a:r>
              <a:rPr lang="en-US" sz="2000" dirty="0">
                <a:latin typeface="Garamond" panose="02020404030301010803" pitchFamily="18" charset="0"/>
              </a:rPr>
              <a:t>While this project was limited in terms of the granularity of assignment given the coarsening of industry rather than occupation, that so much was still present highlights the need for this type of analysis even more</a:t>
            </a:r>
          </a:p>
          <a:p>
            <a:r>
              <a:rPr lang="en-US" sz="2000" dirty="0">
                <a:latin typeface="Garamond" panose="02020404030301010803" pitchFamily="18" charset="0"/>
              </a:rPr>
              <a:t>Future work should look into sensitivity to job loss and the probability of layoffs in these terms as well</a:t>
            </a:r>
          </a:p>
        </p:txBody>
      </p:sp>
    </p:spTree>
    <p:extLst>
      <p:ext uri="{BB962C8B-B14F-4D97-AF65-F5344CB8AC3E}">
        <p14:creationId xmlns:p14="http://schemas.microsoft.com/office/powerpoint/2010/main" val="358766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B59B47-51A8-BD7A-0B28-6B7012FC6C42}"/>
              </a:ext>
            </a:extLst>
          </p:cNvPr>
          <p:cNvSpPr>
            <a:spLocks noGrp="1"/>
          </p:cNvSpPr>
          <p:nvPr>
            <p:ph idx="1"/>
          </p:nvPr>
        </p:nvSpPr>
        <p:spPr/>
        <p:txBody>
          <a:bodyPr>
            <a:normAutofit/>
          </a:bodyPr>
          <a:lstStyle/>
          <a:p>
            <a:pPr marL="0" indent="0">
              <a:buNone/>
            </a:pPr>
            <a:r>
              <a:rPr lang="en-US" sz="3200" dirty="0">
                <a:latin typeface="Garamond" panose="02020404030301010803" pitchFamily="18" charset="0"/>
              </a:rPr>
              <a:t>Thank You!</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hlinkClick r:id="rId2"/>
              </a:rPr>
              <a:t>ch128@wellesley.edu</a:t>
            </a:r>
            <a:endParaRPr lang="en-US" sz="3200" dirty="0">
              <a:latin typeface="Garamond" panose="02020404030301010803" pitchFamily="18" charset="0"/>
            </a:endParaRPr>
          </a:p>
          <a:p>
            <a:pPr marL="0" indent="0">
              <a:buNone/>
            </a:pPr>
            <a:r>
              <a:rPr lang="en-US" sz="3200" dirty="0" err="1">
                <a:latin typeface="Garamond" panose="02020404030301010803" pitchFamily="18" charset="0"/>
              </a:rPr>
              <a:t>christianhosam.com</a:t>
            </a:r>
            <a:endParaRPr lang="en-US" sz="3200" dirty="0">
              <a:latin typeface="Garamond" panose="02020404030301010803" pitchFamily="18" charset="0"/>
            </a:endParaRPr>
          </a:p>
        </p:txBody>
      </p:sp>
    </p:spTree>
    <p:extLst>
      <p:ext uri="{BB962C8B-B14F-4D97-AF65-F5344CB8AC3E}">
        <p14:creationId xmlns:p14="http://schemas.microsoft.com/office/powerpoint/2010/main" val="4081071194"/>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{5E9A12D2-5B69-914D-A622-5651F7C0D4B0}659a41c6-8e87-4cfd-8ac1-7a6b614ae15f-TF7f24e589-d1f4-4915-85bd-1c86c4ff5545_mac</Template>
  <TotalTime>879</TotalTime>
  <Words>1336</Words>
  <Application>Microsoft Macintosh PowerPoint</Application>
  <PresentationFormat>Widescreen</PresentationFormat>
  <Paragraphs>99</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 Math</vt:lpstr>
      <vt:lpstr>Garamond</vt:lpstr>
      <vt:lpstr>Neue Haas Grotesk Text Pro</vt:lpstr>
      <vt:lpstr>Helena</vt:lpstr>
      <vt:lpstr>Employment Quality and Political Attitudes. New Evidence for Canonical Questions</vt:lpstr>
      <vt:lpstr>What is a Good Job? And Why Does it Matter for Political Attitudes?</vt:lpstr>
      <vt:lpstr>PowerPoint Presentation</vt:lpstr>
      <vt:lpstr>PowerPoint Presentation</vt:lpstr>
      <vt:lpstr>PowerPoint Presentation</vt:lpstr>
      <vt:lpstr>PowerPoint Presentation</vt:lpstr>
      <vt:lpstr>PowerPoint Presentation</vt:lpstr>
      <vt:lpstr>Data - Compensation</vt:lpstr>
      <vt:lpstr>Data – Benefits </vt:lpstr>
      <vt:lpstr>Data – Earnings Stability</vt:lpstr>
      <vt:lpstr>JQI</vt:lpstr>
      <vt:lpstr>Research Question</vt:lpstr>
      <vt:lpstr>Outline for the Rest of the Talk</vt:lpstr>
      <vt:lpstr>PowerPoint Presentation</vt:lpstr>
      <vt:lpstr>PowerPoint Presentation</vt:lpstr>
      <vt:lpstr>Objective and Subjective Forms of Employment Quality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Hosam</dc:creator>
  <cp:lastModifiedBy>Christian Hosam</cp:lastModifiedBy>
  <cp:revision>5</cp:revision>
  <dcterms:created xsi:type="dcterms:W3CDTF">2026-10-06T22:12:27Z</dcterms:created>
  <dcterms:modified xsi:type="dcterms:W3CDTF">2026-10-07T14:25:18Z</dcterms:modified>
</cp:coreProperties>
</file>